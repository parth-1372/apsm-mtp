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latsi" charset="1" panose="00000500000000000000"/>
      <p:regular r:id="rId26"/>
    </p:embeddedFont>
    <p:embeddedFont>
      <p:font typeface="Open Sans Bold" charset="1" panose="020B0806030504020204"/>
      <p:regular r:id="rId27"/>
    </p:embeddedFont>
    <p:embeddedFont>
      <p:font typeface="Canva Sans Bold" charset="1" panose="020B0803030501040103"/>
      <p:regular r:id="rId28"/>
    </p:embeddedFont>
    <p:embeddedFont>
      <p:font typeface="Canva Sans" charset="1" panose="020B0503030501040103"/>
      <p:regular r:id="rId29"/>
    </p:embeddedFont>
    <p:embeddedFont>
      <p:font typeface="Abhaya Libre" charset="1" panose="02000503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ieeexplore.ieee.org/document/10640092" TargetMode="External" Type="http://schemas.openxmlformats.org/officeDocument/2006/relationships/hyperlink"/><Relationship Id="rId11" Target="https://ieeexplore.ieee.org/document/10640092" TargetMode="External" Type="http://schemas.openxmlformats.org/officeDocument/2006/relationships/hyperlink"/><Relationship Id="rId12" Target="https://ieeexplore.ieee.org/document/10185925" TargetMode="External" Type="http://schemas.openxmlformats.org/officeDocument/2006/relationships/hyperlink"/><Relationship Id="rId13" Target="https://ieeexplore.ieee.org/document/10251413" TargetMode="External" Type="http://schemas.openxmlformats.org/officeDocument/2006/relationships/hyperlink"/><Relationship Id="rId14" Target="https://ieeexplore.ieee.org/document/10185925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ieeexplore.ieee.org/document/10185925" TargetMode="External" Type="http://schemas.openxmlformats.org/officeDocument/2006/relationships/hyperlink"/><Relationship Id="rId5" Target="https://ieeexplore.ieee.org/document/10185925" TargetMode="External" Type="http://schemas.openxmlformats.org/officeDocument/2006/relationships/hyperlink"/><Relationship Id="rId6" Target="https://ieeexplore.ieee.org/document/10185925" TargetMode="External" Type="http://schemas.openxmlformats.org/officeDocument/2006/relationships/hyperlink"/><Relationship Id="rId7" Target="https://ieeexplore.ieee.org/document/10185925" TargetMode="External" Type="http://schemas.openxmlformats.org/officeDocument/2006/relationships/hyperlink"/><Relationship Id="rId8" Target="https://ieeexplore.ieee.org/document/10185925" TargetMode="External" Type="http://schemas.openxmlformats.org/officeDocument/2006/relationships/hyperlink"/><Relationship Id="rId9" Target="https://ieeexplore.ieee.org/document/10640092" TargetMode="External" Type="http://schemas.openxmlformats.org/officeDocument/2006/relationships/hyperlink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2646898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118095" y="925830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99407" y="5498487"/>
            <a:ext cx="1725367" cy="2406433"/>
          </a:xfrm>
          <a:custGeom>
            <a:avLst/>
            <a:gdLst/>
            <a:ahLst/>
            <a:cxnLst/>
            <a:rect r="r" b="b" t="t" l="l"/>
            <a:pathLst>
              <a:path h="2406433" w="1725367">
                <a:moveTo>
                  <a:pt x="0" y="0"/>
                </a:moveTo>
                <a:lnTo>
                  <a:pt x="1725366" y="0"/>
                </a:lnTo>
                <a:lnTo>
                  <a:pt x="1725366" y="2406433"/>
                </a:lnTo>
                <a:lnTo>
                  <a:pt x="0" y="2406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21212" y="384432"/>
            <a:ext cx="14459869" cy="269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4"/>
              </a:lnSpc>
            </a:pPr>
            <a:r>
              <a:rPr lang="en-US" sz="7200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CONTEXT AWARE GOSSIP-BASED</a:t>
            </a:r>
          </a:p>
          <a:p>
            <a:pPr algn="ctr">
              <a:lnSpc>
                <a:spcPts val="6984"/>
              </a:lnSpc>
            </a:pPr>
            <a:r>
              <a:rPr lang="en-US" sz="7200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DECENTRALISED MONITORING</a:t>
            </a:r>
          </a:p>
          <a:p>
            <a:pPr algn="ctr">
              <a:lnSpc>
                <a:spcPts val="6984"/>
              </a:lnSpc>
            </a:pPr>
            <a:r>
              <a:rPr lang="en-US" sz="7200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SYSTEM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38472" y="4165221"/>
            <a:ext cx="12625348" cy="978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9"/>
              </a:lnSpc>
            </a:pPr>
            <a:r>
              <a:rPr lang="en-US" sz="5735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B.Tech  Project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03065" y="7840981"/>
            <a:ext cx="5078016" cy="141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Ankesh Gupta 2022IMT-014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Lokesh Mehar 2022IMT-066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Parthkumar Mungra 2022IMT-082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50690" y="7268211"/>
            <a:ext cx="1924526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Students: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38472" y="7352788"/>
            <a:ext cx="2273141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Supervisor: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38472" y="7925558"/>
            <a:ext cx="3083838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Dr. Mahendra Shukla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28179" y="291459"/>
            <a:ext cx="14431643" cy="128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81"/>
              </a:lnSpc>
            </a:pPr>
            <a:r>
              <a:rPr lang="en-US" sz="7557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INTRODUCTION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417488" y="873107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-254016" y="9766128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436752" y="9766128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5512476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5050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834947" y="-80455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589214" y="2721832"/>
            <a:ext cx="4262034" cy="4114800"/>
          </a:xfrm>
          <a:custGeom>
            <a:avLst/>
            <a:gdLst/>
            <a:ahLst/>
            <a:cxnLst/>
            <a:rect r="r" b="b" t="t" l="l"/>
            <a:pathLst>
              <a:path h="4114800" w="4262034">
                <a:moveTo>
                  <a:pt x="0" y="0"/>
                </a:moveTo>
                <a:lnTo>
                  <a:pt x="4262034" y="0"/>
                </a:lnTo>
                <a:lnTo>
                  <a:pt x="42620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622896" y="2325746"/>
            <a:ext cx="5452192" cy="4906973"/>
          </a:xfrm>
          <a:custGeom>
            <a:avLst/>
            <a:gdLst/>
            <a:ahLst/>
            <a:cxnLst/>
            <a:rect r="r" b="b" t="t" l="l"/>
            <a:pathLst>
              <a:path h="4906973" w="5452192">
                <a:moveTo>
                  <a:pt x="0" y="0"/>
                </a:moveTo>
                <a:lnTo>
                  <a:pt x="5452192" y="0"/>
                </a:lnTo>
                <a:lnTo>
                  <a:pt x="5452192" y="4906972"/>
                </a:lnTo>
                <a:lnTo>
                  <a:pt x="0" y="49069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951033" y="7817707"/>
            <a:ext cx="3900215" cy="62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Centralized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46908" y="7817707"/>
            <a:ext cx="4393553" cy="62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Decentralized System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38352" y="8323052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7805"/>
              </a:lnSpc>
              <a:spcBef>
                <a:spcPct val="0"/>
              </a:spcBef>
            </a:pPr>
            <a:r>
              <a:rPr lang="en-US" b="true" sz="5575" strike="noStrike" u="none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05044" y="-90150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437582"/>
              <a:ext cx="2083482" cy="1241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5050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69857" y="583337"/>
            <a:ext cx="13048484" cy="80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0"/>
              </a:lnSpc>
            </a:pPr>
            <a:r>
              <a:rPr lang="en-US" sz="4742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IMPLEMENTAT</a:t>
            </a:r>
            <a:r>
              <a:rPr lang="en-US" sz="4742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ION CHALLENGES &amp; SOLUTIONS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028700" y="1576276"/>
          <a:ext cx="16266643" cy="9876361"/>
        </p:xfrm>
        <a:graphic>
          <a:graphicData uri="http://schemas.openxmlformats.org/drawingml/2006/table">
            <a:tbl>
              <a:tblPr/>
              <a:tblGrid>
                <a:gridCol w="4956527"/>
                <a:gridCol w="11310116"/>
              </a:tblGrid>
              <a:tr h="12418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2169AC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Our 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08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Single Point of Failure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Fully dec</a:t>
                      </a:r>
                      <a:r>
                        <a:rPr lang="en-US" sz="28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entralized gossip-based architecture with no central coordinator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55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Netwo</a:t>
                      </a:r>
                      <a:r>
                        <a:rPr lang="en-US" sz="31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rk Bandwidth Constraints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Pri</a:t>
                      </a:r>
                      <a:r>
                        <a:rPr lang="en-US" sz="28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ority-based Value of Information (VoI) filtering mechanism reducing bandwidth utilisation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54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High Communication Latency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Push-pull hybrid gossip protocol with local peer-to-peer exchanges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08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Resource Limitations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Lightweight container-based implementation with adaptive resource awareness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18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6438352" y="8323052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7805"/>
              </a:lnSpc>
              <a:spcBef>
                <a:spcPct val="0"/>
              </a:spcBef>
            </a:pPr>
            <a:r>
              <a:rPr lang="en-US" b="true" sz="5575" strike="noStrike" u="none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05044" y="-90150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54016" y="9759482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436752" y="9759482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437582"/>
              <a:ext cx="2083482" cy="1241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5050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304238" y="2058551"/>
          <a:ext cx="17795894" cy="7199749"/>
        </p:xfrm>
        <a:graphic>
          <a:graphicData uri="http://schemas.openxmlformats.org/drawingml/2006/table">
            <a:tbl>
              <a:tblPr/>
              <a:tblGrid>
                <a:gridCol w="2896281"/>
                <a:gridCol w="5352155"/>
                <a:gridCol w="4894511"/>
                <a:gridCol w="4652947"/>
              </a:tblGrid>
              <a:tr h="12752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TECHNOLOGY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D84173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Gossip Protocol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2169AC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Priority-Based Filtering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279500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Consensus Mechanism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52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ISSUE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Single point of failure, Centralized bottlenecks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Network congestion, Resource waste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Data reliability, Trust in distributed system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93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Our Project’s 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Decentralized peer-to-peer communication with eventual consistency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Context-aware metric prioritization reducing </a:t>
                      </a:r>
                      <a:endParaRPr lang="en-US" sz="1100"/>
                    </a:p>
                    <a:p>
                      <a:pPr algn="ctr">
                        <a:lnSpc>
                          <a:spcPts val="4059"/>
                        </a:lnSpc>
                      </a:pPr>
                      <a:r>
                        <a:rPr lang="en-US" sz="28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the traffic</a:t>
                      </a:r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50505"/>
                          </a:solidFill>
                          <a:latin typeface="Alatsi"/>
                          <a:ea typeface="Alatsi"/>
                          <a:cs typeface="Alatsi"/>
                          <a:sym typeface="Alatsi"/>
                        </a:rPr>
                        <a:t>Leaderless quorum consensus for trustworthy information retrieval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3030250" y="28479"/>
            <a:ext cx="11046934" cy="164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0"/>
              </a:lnSpc>
            </a:pPr>
            <a:r>
              <a:rPr lang="en-US" sz="4742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 HOW THE PROJECT ADDRESS THE PROBLEMS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38352" y="8323052"/>
            <a:ext cx="152400" cy="2667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7805"/>
              </a:lnSpc>
              <a:spcBef>
                <a:spcPct val="0"/>
              </a:spcBef>
            </a:pPr>
            <a:r>
              <a:rPr lang="en-US" b="true" sz="5575" strike="noStrike" u="none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9361" y="272409"/>
            <a:ext cx="1623060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OBJECTIVES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32749" y="2023897"/>
            <a:ext cx="15007712" cy="3500151"/>
            <a:chOff x="0" y="0"/>
            <a:chExt cx="3952648" cy="9218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52649" cy="921851"/>
            </a:xfrm>
            <a:custGeom>
              <a:avLst/>
              <a:gdLst/>
              <a:ahLst/>
              <a:cxnLst/>
              <a:rect r="r" b="b" t="t" l="l"/>
              <a:pathLst>
                <a:path h="921851" w="3952649">
                  <a:moveTo>
                    <a:pt x="26309" y="0"/>
                  </a:moveTo>
                  <a:lnTo>
                    <a:pt x="3926340" y="0"/>
                  </a:lnTo>
                  <a:cubicBezTo>
                    <a:pt x="3940870" y="0"/>
                    <a:pt x="3952649" y="11779"/>
                    <a:pt x="3952649" y="26309"/>
                  </a:cubicBezTo>
                  <a:lnTo>
                    <a:pt x="3952649" y="895542"/>
                  </a:lnTo>
                  <a:cubicBezTo>
                    <a:pt x="3952649" y="902519"/>
                    <a:pt x="3949877" y="909211"/>
                    <a:pt x="3944943" y="914145"/>
                  </a:cubicBezTo>
                  <a:cubicBezTo>
                    <a:pt x="3940009" y="919079"/>
                    <a:pt x="3933317" y="921851"/>
                    <a:pt x="3926340" y="921851"/>
                  </a:cubicBezTo>
                  <a:lnTo>
                    <a:pt x="26309" y="921851"/>
                  </a:lnTo>
                  <a:cubicBezTo>
                    <a:pt x="19331" y="921851"/>
                    <a:pt x="12640" y="919079"/>
                    <a:pt x="7706" y="914145"/>
                  </a:cubicBezTo>
                  <a:cubicBezTo>
                    <a:pt x="2772" y="909211"/>
                    <a:pt x="0" y="902519"/>
                    <a:pt x="0" y="895542"/>
                  </a:cubicBezTo>
                  <a:lnTo>
                    <a:pt x="0" y="26309"/>
                  </a:lnTo>
                  <a:cubicBezTo>
                    <a:pt x="0" y="19331"/>
                    <a:pt x="2772" y="12640"/>
                    <a:pt x="7706" y="7706"/>
                  </a:cubicBezTo>
                  <a:cubicBezTo>
                    <a:pt x="12640" y="2772"/>
                    <a:pt x="19331" y="0"/>
                    <a:pt x="26309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952648" cy="959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277845" y="752394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5915855" y="0"/>
            <a:ext cx="1449213" cy="1673225"/>
            <a:chOff x="0" y="0"/>
            <a:chExt cx="703982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3982" cy="812800"/>
            </a:xfrm>
            <a:custGeom>
              <a:avLst/>
              <a:gdLst/>
              <a:ahLst/>
              <a:cxnLst/>
              <a:rect r="r" b="b" t="t" l="l"/>
              <a:pathLst>
                <a:path h="812800" w="703982">
                  <a:moveTo>
                    <a:pt x="234787" y="793731"/>
                  </a:moveTo>
                  <a:cubicBezTo>
                    <a:pt x="270879" y="805245"/>
                    <a:pt x="311910" y="812800"/>
                    <a:pt x="352180" y="812800"/>
                  </a:cubicBezTo>
                  <a:cubicBezTo>
                    <a:pt x="392452" y="812800"/>
                    <a:pt x="431204" y="806323"/>
                    <a:pt x="466915" y="794809"/>
                  </a:cubicBezTo>
                  <a:cubicBezTo>
                    <a:pt x="467675" y="794450"/>
                    <a:pt x="468435" y="794450"/>
                    <a:pt x="469194" y="794090"/>
                  </a:cubicBezTo>
                  <a:cubicBezTo>
                    <a:pt x="603304" y="748035"/>
                    <a:pt x="702082" y="626421"/>
                    <a:pt x="703982" y="484298"/>
                  </a:cubicBezTo>
                  <a:lnTo>
                    <a:pt x="703982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900" y="627140"/>
                    <a:pt x="99158" y="748755"/>
                    <a:pt x="234787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703982" cy="73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217432" y="-80455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440168" y="9258300"/>
            <a:ext cx="850127" cy="850127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827961" y="3075371"/>
            <a:ext cx="1639340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Decentralized</a:t>
            </a:r>
            <a:r>
              <a:rPr lang="en-US" sz="3399">
                <a:solidFill>
                  <a:srgbClr val="050505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339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edge</a:t>
            </a:r>
            <a:r>
              <a:rPr lang="en-US" sz="3399">
                <a:solidFill>
                  <a:srgbClr val="050505"/>
                </a:solidFill>
                <a:latin typeface="Canva Sans"/>
                <a:ea typeface="Canva Sans"/>
                <a:cs typeface="Canva Sans"/>
                <a:sym typeface="Canva Sans"/>
              </a:rPr>
              <a:t> monitoring system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50505"/>
                </a:solidFill>
                <a:latin typeface="Canva Sans"/>
                <a:ea typeface="Canva Sans"/>
                <a:cs typeface="Canva Sans"/>
                <a:sym typeface="Canva Sans"/>
              </a:rPr>
              <a:t>via stochastic </a:t>
            </a:r>
            <a:r>
              <a:rPr lang="en-US" b="true" sz="339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gossip</a:t>
            </a:r>
            <a:r>
              <a:rPr lang="en-US" sz="3399">
                <a:solidFill>
                  <a:srgbClr val="050505"/>
                </a:solidFill>
                <a:latin typeface="Canva Sans"/>
                <a:ea typeface="Canva Sans"/>
                <a:cs typeface="Canva Sans"/>
                <a:sym typeface="Canva Sans"/>
              </a:rPr>
              <a:t> based information dissemation and </a:t>
            </a:r>
          </a:p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intellegent</a:t>
            </a:r>
            <a:r>
              <a:rPr lang="en-US" sz="3399">
                <a:solidFill>
                  <a:srgbClr val="050505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339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priority-based </a:t>
            </a:r>
            <a:r>
              <a:rPr lang="en-US" sz="3399">
                <a:solidFill>
                  <a:srgbClr val="050505"/>
                </a:solidFill>
                <a:latin typeface="Canva Sans"/>
                <a:ea typeface="Canva Sans"/>
                <a:cs typeface="Canva Sans"/>
                <a:sym typeface="Canva Sans"/>
              </a:rPr>
              <a:t>metric filtering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57073" y="2124513"/>
            <a:ext cx="2984037" cy="70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7"/>
              </a:lnSpc>
            </a:pPr>
            <a:r>
              <a:rPr lang="en-US" b="true" sz="4091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Develop: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233109" y="5820904"/>
            <a:ext cx="11806991" cy="2886358"/>
            <a:chOff x="0" y="0"/>
            <a:chExt cx="3109660" cy="7601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09660" cy="760193"/>
            </a:xfrm>
            <a:custGeom>
              <a:avLst/>
              <a:gdLst/>
              <a:ahLst/>
              <a:cxnLst/>
              <a:rect r="r" b="b" t="t" l="l"/>
              <a:pathLst>
                <a:path h="760193" w="3109660">
                  <a:moveTo>
                    <a:pt x="33441" y="0"/>
                  </a:moveTo>
                  <a:lnTo>
                    <a:pt x="3076219" y="0"/>
                  </a:lnTo>
                  <a:cubicBezTo>
                    <a:pt x="3085088" y="0"/>
                    <a:pt x="3093594" y="3523"/>
                    <a:pt x="3099866" y="9795"/>
                  </a:cubicBezTo>
                  <a:cubicBezTo>
                    <a:pt x="3106137" y="16066"/>
                    <a:pt x="3109660" y="24572"/>
                    <a:pt x="3109660" y="33441"/>
                  </a:cubicBezTo>
                  <a:lnTo>
                    <a:pt x="3109660" y="726752"/>
                  </a:lnTo>
                  <a:cubicBezTo>
                    <a:pt x="3109660" y="745221"/>
                    <a:pt x="3094688" y="760193"/>
                    <a:pt x="3076219" y="760193"/>
                  </a:cubicBezTo>
                  <a:lnTo>
                    <a:pt x="33441" y="760193"/>
                  </a:lnTo>
                  <a:cubicBezTo>
                    <a:pt x="24572" y="760193"/>
                    <a:pt x="16066" y="756670"/>
                    <a:pt x="9795" y="750398"/>
                  </a:cubicBezTo>
                  <a:cubicBezTo>
                    <a:pt x="3523" y="744127"/>
                    <a:pt x="0" y="735621"/>
                    <a:pt x="0" y="726752"/>
                  </a:cubicBezTo>
                  <a:lnTo>
                    <a:pt x="0" y="33441"/>
                  </a:lnTo>
                  <a:cubicBezTo>
                    <a:pt x="0" y="14972"/>
                    <a:pt x="14972" y="0"/>
                    <a:pt x="33441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109660" cy="798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068743" y="5790749"/>
            <a:ext cx="2480582" cy="81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b="true" sz="4821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33109" y="7077345"/>
            <a:ext cx="1180699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Resource contrainted</a:t>
            </a:r>
            <a:r>
              <a:rPr lang="en-US" sz="3399">
                <a:solidFill>
                  <a:srgbClr val="050505"/>
                </a:solidFill>
                <a:latin typeface="Canva Sans"/>
                <a:ea typeface="Canva Sans"/>
                <a:cs typeface="Canva Sans"/>
                <a:sym typeface="Canva Sans"/>
              </a:rPr>
              <a:t> &amp; </a:t>
            </a:r>
            <a:r>
              <a:rPr lang="en-US" b="true" sz="339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highly volatile</a:t>
            </a:r>
            <a:r>
              <a:rPr lang="en-US" sz="3399">
                <a:solidFill>
                  <a:srgbClr val="050505"/>
                </a:solidFill>
                <a:latin typeface="Canva Sans"/>
                <a:ea typeface="Canva Sans"/>
                <a:cs typeface="Canva Sans"/>
                <a:sym typeface="Canva Sans"/>
              </a:rPr>
              <a:t> edge IoT environments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38293" y="345440"/>
            <a:ext cx="40433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2316" y="-57777"/>
            <a:ext cx="14527565" cy="1296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51"/>
              </a:lnSpc>
            </a:pPr>
            <a:r>
              <a:rPr lang="en-US" sz="7608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EXPERIMENTAL SETUP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7362" y="0"/>
            <a:ext cx="937061" cy="10287000"/>
            <a:chOff x="0" y="0"/>
            <a:chExt cx="24679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67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H="true" flipV="true">
            <a:off x="1085850" y="7289441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 flipV="true">
            <a:off x="1090490" y="-104525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5915855" y="0"/>
            <a:ext cx="1449213" cy="1673225"/>
            <a:chOff x="0" y="0"/>
            <a:chExt cx="703982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3982" cy="812800"/>
            </a:xfrm>
            <a:custGeom>
              <a:avLst/>
              <a:gdLst/>
              <a:ahLst/>
              <a:cxnLst/>
              <a:rect r="r" b="b" t="t" l="l"/>
              <a:pathLst>
                <a:path h="812800" w="703982">
                  <a:moveTo>
                    <a:pt x="234787" y="793731"/>
                  </a:moveTo>
                  <a:cubicBezTo>
                    <a:pt x="270879" y="805245"/>
                    <a:pt x="311910" y="812800"/>
                    <a:pt x="352180" y="812800"/>
                  </a:cubicBezTo>
                  <a:cubicBezTo>
                    <a:pt x="392452" y="812800"/>
                    <a:pt x="431204" y="806323"/>
                    <a:pt x="466915" y="794809"/>
                  </a:cubicBezTo>
                  <a:cubicBezTo>
                    <a:pt x="467675" y="794450"/>
                    <a:pt x="468435" y="794450"/>
                    <a:pt x="469194" y="794090"/>
                  </a:cubicBezTo>
                  <a:cubicBezTo>
                    <a:pt x="603304" y="748035"/>
                    <a:pt x="702082" y="626421"/>
                    <a:pt x="703982" y="484298"/>
                  </a:cubicBezTo>
                  <a:lnTo>
                    <a:pt x="703982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900" y="627140"/>
                    <a:pt x="99158" y="748755"/>
                    <a:pt x="234787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03982" cy="73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536178" y="904810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657600" y="-12388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1926758" y="7537091"/>
            <a:ext cx="15159865" cy="0"/>
          </a:xfrm>
          <a:prstGeom prst="line">
            <a:avLst/>
          </a:prstGeom>
          <a:ln cap="flat" w="495300">
            <a:solidFill>
              <a:srgbClr val="75E1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3657600" y="5479036"/>
            <a:ext cx="1678964" cy="943272"/>
          </a:xfrm>
          <a:custGeom>
            <a:avLst/>
            <a:gdLst/>
            <a:ahLst/>
            <a:cxnLst/>
            <a:rect r="r" b="b" t="t" l="l"/>
            <a:pathLst>
              <a:path h="943272" w="1678964">
                <a:moveTo>
                  <a:pt x="0" y="0"/>
                </a:moveTo>
                <a:lnTo>
                  <a:pt x="1678964" y="0"/>
                </a:lnTo>
                <a:lnTo>
                  <a:pt x="1678964" y="943273"/>
                </a:lnTo>
                <a:lnTo>
                  <a:pt x="0" y="943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72921" y="2376793"/>
            <a:ext cx="14267540" cy="190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0616" indent="-390308" lvl="1">
              <a:lnSpc>
                <a:spcPts val="5061"/>
              </a:lnSpc>
              <a:buFont typeface="Arial"/>
              <a:buChar char="•"/>
            </a:pPr>
            <a:r>
              <a:rPr lang="en-US" b="true" sz="3615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Each node was simulated as a docker container</a:t>
            </a:r>
          </a:p>
          <a:p>
            <a:pPr algn="l" marL="780616" indent="-390308" lvl="1">
              <a:lnSpc>
                <a:spcPts val="5061"/>
              </a:lnSpc>
              <a:buFont typeface="Arial"/>
              <a:buChar char="•"/>
            </a:pPr>
            <a:r>
              <a:rPr lang="en-US" b="true" sz="3615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Containers communicated over docker-bridge</a:t>
            </a:r>
          </a:p>
          <a:p>
            <a:pPr algn="l" marL="780616" indent="-390308" lvl="1">
              <a:lnSpc>
                <a:spcPts val="5061"/>
              </a:lnSpc>
              <a:buFont typeface="Arial"/>
              <a:buChar char="•"/>
            </a:pPr>
            <a:r>
              <a:rPr lang="en-US" b="true" sz="3615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Metrics stored in local SQLite database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00001" y="7304310"/>
            <a:ext cx="6436931" cy="417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b="true" sz="2431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Docker bridge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4497082" y="6422309"/>
            <a:ext cx="0" cy="867133"/>
          </a:xfrm>
          <a:prstGeom prst="line">
            <a:avLst/>
          </a:prstGeom>
          <a:ln cap="flat" w="381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3984315" y="6374684"/>
            <a:ext cx="1025533" cy="41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sz="2431">
                <a:solidFill>
                  <a:srgbClr val="050505"/>
                </a:solidFill>
                <a:latin typeface="Canva Sans"/>
                <a:ea typeface="Canva Sans"/>
                <a:cs typeface="Canva Sans"/>
                <a:sym typeface="Canva Sans"/>
              </a:rPr>
              <a:t>/node1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621910" y="8576472"/>
            <a:ext cx="1678964" cy="943272"/>
          </a:xfrm>
          <a:custGeom>
            <a:avLst/>
            <a:gdLst/>
            <a:ahLst/>
            <a:cxnLst/>
            <a:rect r="r" b="b" t="t" l="l"/>
            <a:pathLst>
              <a:path h="943272" w="1678964">
                <a:moveTo>
                  <a:pt x="0" y="0"/>
                </a:moveTo>
                <a:lnTo>
                  <a:pt x="1678964" y="0"/>
                </a:lnTo>
                <a:lnTo>
                  <a:pt x="1678964" y="943272"/>
                </a:lnTo>
                <a:lnTo>
                  <a:pt x="0" y="943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>
            <a:off x="7461392" y="7722248"/>
            <a:ext cx="23274" cy="1006776"/>
          </a:xfrm>
          <a:prstGeom prst="line">
            <a:avLst/>
          </a:prstGeom>
          <a:ln cap="flat" w="381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6946071" y="8161397"/>
            <a:ext cx="1030643" cy="41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sz="2431">
                <a:solidFill>
                  <a:srgbClr val="050505"/>
                </a:solidFill>
                <a:latin typeface="Canva Sans"/>
                <a:ea typeface="Canva Sans"/>
                <a:cs typeface="Canva Sans"/>
                <a:sym typeface="Canva Sans"/>
              </a:rPr>
              <a:t>/node2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381755" y="5479036"/>
            <a:ext cx="1678964" cy="943272"/>
          </a:xfrm>
          <a:custGeom>
            <a:avLst/>
            <a:gdLst/>
            <a:ahLst/>
            <a:cxnLst/>
            <a:rect r="r" b="b" t="t" l="l"/>
            <a:pathLst>
              <a:path h="943272" w="1678964">
                <a:moveTo>
                  <a:pt x="0" y="0"/>
                </a:moveTo>
                <a:lnTo>
                  <a:pt x="1678964" y="0"/>
                </a:lnTo>
                <a:lnTo>
                  <a:pt x="1678964" y="943273"/>
                </a:lnTo>
                <a:lnTo>
                  <a:pt x="0" y="943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>
            <a:off x="11202187" y="6422309"/>
            <a:ext cx="0" cy="867133"/>
          </a:xfrm>
          <a:prstGeom prst="line">
            <a:avLst/>
          </a:prstGeom>
          <a:ln cap="flat" w="381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0701104" y="6432147"/>
            <a:ext cx="1040266" cy="41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sz="2431">
                <a:solidFill>
                  <a:srgbClr val="050505"/>
                </a:solidFill>
                <a:latin typeface="Canva Sans"/>
                <a:ea typeface="Canva Sans"/>
                <a:cs typeface="Canva Sans"/>
                <a:sym typeface="Canva Sans"/>
              </a:rPr>
              <a:t>/node3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354297" y="8576472"/>
            <a:ext cx="1678964" cy="943272"/>
          </a:xfrm>
          <a:custGeom>
            <a:avLst/>
            <a:gdLst/>
            <a:ahLst/>
            <a:cxnLst/>
            <a:rect r="r" b="b" t="t" l="l"/>
            <a:pathLst>
              <a:path h="943272" w="1678964">
                <a:moveTo>
                  <a:pt x="0" y="0"/>
                </a:moveTo>
                <a:lnTo>
                  <a:pt x="1678963" y="0"/>
                </a:lnTo>
                <a:lnTo>
                  <a:pt x="1678963" y="943272"/>
                </a:lnTo>
                <a:lnTo>
                  <a:pt x="0" y="943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6" id="26"/>
          <p:cNvSpPr/>
          <p:nvPr/>
        </p:nvSpPr>
        <p:spPr>
          <a:xfrm>
            <a:off x="15174728" y="7775456"/>
            <a:ext cx="0" cy="867133"/>
          </a:xfrm>
          <a:prstGeom prst="line">
            <a:avLst/>
          </a:prstGeom>
          <a:ln cap="flat" w="381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4608964" y="8161397"/>
            <a:ext cx="1169629" cy="41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sz="2431">
                <a:solidFill>
                  <a:srgbClr val="050505"/>
                </a:solidFill>
                <a:latin typeface="Canva Sans"/>
                <a:ea typeface="Canva Sans"/>
                <a:cs typeface="Canva Sans"/>
                <a:sym typeface="Canva Sans"/>
              </a:rPr>
              <a:t>/node-n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55638" y="6114861"/>
            <a:ext cx="54661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...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427339" y="345440"/>
            <a:ext cx="42624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2316" y="-57777"/>
            <a:ext cx="14527565" cy="1296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51"/>
              </a:lnSpc>
            </a:pPr>
            <a:r>
              <a:rPr lang="en-US" sz="7608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SYSTEM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7362" y="0"/>
            <a:ext cx="937061" cy="10287000"/>
            <a:chOff x="0" y="0"/>
            <a:chExt cx="24679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67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H="true" flipV="true">
            <a:off x="1085850" y="7289441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 flipV="true">
            <a:off x="1090490" y="-104525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5915855" y="0"/>
            <a:ext cx="1449213" cy="1673225"/>
            <a:chOff x="0" y="0"/>
            <a:chExt cx="703982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3982" cy="812800"/>
            </a:xfrm>
            <a:custGeom>
              <a:avLst/>
              <a:gdLst/>
              <a:ahLst/>
              <a:cxnLst/>
              <a:rect r="r" b="b" t="t" l="l"/>
              <a:pathLst>
                <a:path h="812800" w="703982">
                  <a:moveTo>
                    <a:pt x="234787" y="793731"/>
                  </a:moveTo>
                  <a:cubicBezTo>
                    <a:pt x="270879" y="805245"/>
                    <a:pt x="311910" y="812800"/>
                    <a:pt x="352180" y="812800"/>
                  </a:cubicBezTo>
                  <a:cubicBezTo>
                    <a:pt x="392452" y="812800"/>
                    <a:pt x="431204" y="806323"/>
                    <a:pt x="466915" y="794809"/>
                  </a:cubicBezTo>
                  <a:cubicBezTo>
                    <a:pt x="467675" y="794450"/>
                    <a:pt x="468435" y="794450"/>
                    <a:pt x="469194" y="794090"/>
                  </a:cubicBezTo>
                  <a:cubicBezTo>
                    <a:pt x="603304" y="748035"/>
                    <a:pt x="702082" y="626421"/>
                    <a:pt x="703982" y="484298"/>
                  </a:cubicBezTo>
                  <a:lnTo>
                    <a:pt x="703982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900" y="627140"/>
                    <a:pt x="99158" y="748755"/>
                    <a:pt x="234787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03982" cy="73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536178" y="904810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657600" y="-12388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08744" y="1471630"/>
            <a:ext cx="14050411" cy="8486717"/>
          </a:xfrm>
          <a:custGeom>
            <a:avLst/>
            <a:gdLst/>
            <a:ahLst/>
            <a:cxnLst/>
            <a:rect r="r" b="b" t="t" l="l"/>
            <a:pathLst>
              <a:path h="8486717" w="14050411">
                <a:moveTo>
                  <a:pt x="0" y="0"/>
                </a:moveTo>
                <a:lnTo>
                  <a:pt x="14050411" y="0"/>
                </a:lnTo>
                <a:lnTo>
                  <a:pt x="14050411" y="8486718"/>
                </a:lnTo>
                <a:lnTo>
                  <a:pt x="0" y="8486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65" b="-219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242256" y="345440"/>
            <a:ext cx="79640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0762" y="163570"/>
            <a:ext cx="13590674" cy="121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64"/>
              </a:lnSpc>
            </a:pPr>
            <a:r>
              <a:rPr lang="en-US" sz="7117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DATA FORMAT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7362" y="0"/>
            <a:ext cx="937061" cy="10287000"/>
            <a:chOff x="0" y="0"/>
            <a:chExt cx="24679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67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H="true" flipV="true">
            <a:off x="1085850" y="7289441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 flipV="true">
            <a:off x="1090490" y="-104525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5050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373863" y="925830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115168" y="-94197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10068845" y="4797371"/>
            <a:ext cx="1884020" cy="0"/>
          </a:xfrm>
          <a:prstGeom prst="line">
            <a:avLst/>
          </a:prstGeom>
          <a:ln cap="flat" w="76200">
            <a:solidFill>
              <a:srgbClr val="B7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759766" y="2164205"/>
            <a:ext cx="8113736" cy="6907486"/>
          </a:xfrm>
          <a:custGeom>
            <a:avLst/>
            <a:gdLst/>
            <a:ahLst/>
            <a:cxnLst/>
            <a:rect r="r" b="b" t="t" l="l"/>
            <a:pathLst>
              <a:path h="6907486" w="8113736">
                <a:moveTo>
                  <a:pt x="0" y="0"/>
                </a:moveTo>
                <a:lnTo>
                  <a:pt x="8113736" y="0"/>
                </a:lnTo>
                <a:lnTo>
                  <a:pt x="8113736" y="6907487"/>
                </a:lnTo>
                <a:lnTo>
                  <a:pt x="0" y="6907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8890159" y="6780883"/>
            <a:ext cx="1884020" cy="0"/>
          </a:xfrm>
          <a:prstGeom prst="line">
            <a:avLst/>
          </a:prstGeom>
          <a:ln cap="flat" w="76200">
            <a:solidFill>
              <a:srgbClr val="B7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" id="18"/>
          <p:cNvSpPr/>
          <p:nvPr/>
        </p:nvSpPr>
        <p:spPr>
          <a:xfrm>
            <a:off x="9517248" y="7487348"/>
            <a:ext cx="1884020" cy="0"/>
          </a:xfrm>
          <a:prstGeom prst="line">
            <a:avLst/>
          </a:prstGeom>
          <a:ln cap="flat" w="76200">
            <a:solidFill>
              <a:srgbClr val="B7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9451799" y="8137996"/>
            <a:ext cx="1884020" cy="0"/>
          </a:xfrm>
          <a:prstGeom prst="line">
            <a:avLst/>
          </a:prstGeom>
          <a:ln cap="flat" w="76200">
            <a:solidFill>
              <a:srgbClr val="B7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4504277" y="296920"/>
            <a:ext cx="795053" cy="905340"/>
          </a:xfrm>
          <a:custGeom>
            <a:avLst/>
            <a:gdLst/>
            <a:ahLst/>
            <a:cxnLst/>
            <a:rect r="r" b="b" t="t" l="l"/>
            <a:pathLst>
              <a:path h="905340" w="795053">
                <a:moveTo>
                  <a:pt x="0" y="0"/>
                </a:moveTo>
                <a:lnTo>
                  <a:pt x="795053" y="0"/>
                </a:lnTo>
                <a:lnTo>
                  <a:pt x="795053" y="905340"/>
                </a:lnTo>
                <a:lnTo>
                  <a:pt x="0" y="9053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256990" y="4551667"/>
            <a:ext cx="7031010" cy="45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7"/>
              </a:lnSpc>
            </a:pPr>
            <a:r>
              <a:rPr lang="en-US" b="true" sz="2598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Filtered metrics may not have all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44337" y="6500137"/>
            <a:ext cx="5683438" cy="45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8"/>
              </a:lnSpc>
            </a:pPr>
            <a:r>
              <a:rPr lang="en-US" b="true" sz="259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Determines freshness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71427" y="7232291"/>
            <a:ext cx="5683438" cy="45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8"/>
              </a:lnSpc>
            </a:pPr>
            <a:r>
              <a:rPr lang="en-US" b="true" sz="259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Determines liveliness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73502" y="7882940"/>
            <a:ext cx="5683438" cy="45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8"/>
              </a:lnSpc>
            </a:pPr>
            <a:r>
              <a:rPr lang="en-US" b="true" sz="259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integrity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-10800000">
            <a:off x="9451799" y="3511567"/>
            <a:ext cx="617046" cy="2495407"/>
          </a:xfrm>
          <a:custGeom>
            <a:avLst/>
            <a:gdLst/>
            <a:ahLst/>
            <a:cxnLst/>
            <a:rect r="r" b="b" t="t" l="l"/>
            <a:pathLst>
              <a:path h="2495407" w="617046">
                <a:moveTo>
                  <a:pt x="0" y="0"/>
                </a:moveTo>
                <a:lnTo>
                  <a:pt x="617046" y="0"/>
                </a:lnTo>
                <a:lnTo>
                  <a:pt x="617046" y="2495407"/>
                </a:lnTo>
                <a:lnTo>
                  <a:pt x="0" y="24954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6" id="26"/>
          <p:cNvSpPr/>
          <p:nvPr/>
        </p:nvSpPr>
        <p:spPr>
          <a:xfrm flipV="true">
            <a:off x="9873502" y="3191011"/>
            <a:ext cx="1527766" cy="907680"/>
          </a:xfrm>
          <a:prstGeom prst="line">
            <a:avLst/>
          </a:prstGeom>
          <a:ln cap="flat" w="76200">
            <a:solidFill>
              <a:srgbClr val="44AA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7" id="27"/>
          <p:cNvSpPr txBox="true"/>
          <p:nvPr/>
        </p:nvSpPr>
        <p:spPr>
          <a:xfrm rot="0">
            <a:off x="10771427" y="2879634"/>
            <a:ext cx="7031010" cy="45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7"/>
              </a:lnSpc>
            </a:pPr>
            <a:r>
              <a:rPr lang="en-US" b="true" sz="2598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(Metadata has hash of the appData)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5832" y="-144908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 flipV="true">
            <a:off x="1085850" y="7289441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090490" y="-104525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915855" y="0"/>
            <a:ext cx="1449213" cy="1673225"/>
            <a:chOff x="0" y="0"/>
            <a:chExt cx="70398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3982" cy="812800"/>
            </a:xfrm>
            <a:custGeom>
              <a:avLst/>
              <a:gdLst/>
              <a:ahLst/>
              <a:cxnLst/>
              <a:rect r="r" b="b" t="t" l="l"/>
              <a:pathLst>
                <a:path h="812800" w="703982">
                  <a:moveTo>
                    <a:pt x="234787" y="793731"/>
                  </a:moveTo>
                  <a:cubicBezTo>
                    <a:pt x="270879" y="805245"/>
                    <a:pt x="311910" y="812800"/>
                    <a:pt x="352180" y="812800"/>
                  </a:cubicBezTo>
                  <a:cubicBezTo>
                    <a:pt x="392452" y="812800"/>
                    <a:pt x="431204" y="806323"/>
                    <a:pt x="466915" y="794809"/>
                  </a:cubicBezTo>
                  <a:cubicBezTo>
                    <a:pt x="467675" y="794450"/>
                    <a:pt x="468435" y="794450"/>
                    <a:pt x="469194" y="794090"/>
                  </a:cubicBezTo>
                  <a:cubicBezTo>
                    <a:pt x="603304" y="748035"/>
                    <a:pt x="702082" y="626421"/>
                    <a:pt x="703982" y="484298"/>
                  </a:cubicBezTo>
                  <a:lnTo>
                    <a:pt x="703982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900" y="627140"/>
                    <a:pt x="99158" y="748755"/>
                    <a:pt x="234787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03982" cy="73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90037" y="925830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047453" y="2226790"/>
            <a:ext cx="3096321" cy="1501229"/>
            <a:chOff x="0" y="0"/>
            <a:chExt cx="1175289" cy="5698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5289" cy="569830"/>
            </a:xfrm>
            <a:custGeom>
              <a:avLst/>
              <a:gdLst/>
              <a:ahLst/>
              <a:cxnLst/>
              <a:rect r="r" b="b" t="t" l="l"/>
              <a:pathLst>
                <a:path h="569830" w="1175289">
                  <a:moveTo>
                    <a:pt x="587644" y="0"/>
                  </a:moveTo>
                  <a:cubicBezTo>
                    <a:pt x="263097" y="0"/>
                    <a:pt x="0" y="127561"/>
                    <a:pt x="0" y="284915"/>
                  </a:cubicBezTo>
                  <a:cubicBezTo>
                    <a:pt x="0" y="442269"/>
                    <a:pt x="263097" y="569830"/>
                    <a:pt x="587644" y="569830"/>
                  </a:cubicBezTo>
                  <a:cubicBezTo>
                    <a:pt x="912191" y="569830"/>
                    <a:pt x="1175289" y="442269"/>
                    <a:pt x="1175289" y="284915"/>
                  </a:cubicBezTo>
                  <a:cubicBezTo>
                    <a:pt x="1175289" y="127561"/>
                    <a:pt x="912191" y="0"/>
                    <a:pt x="587644" y="0"/>
                  </a:cubicBezTo>
                  <a:close/>
                </a:path>
              </a:pathLst>
            </a:custGeom>
            <a:solidFill>
              <a:srgbClr val="FEECC7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10183" y="-13253"/>
              <a:ext cx="954922" cy="529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50505"/>
                  </a:solidFill>
                  <a:latin typeface="Alatsi"/>
                  <a:ea typeface="Alatsi"/>
                  <a:cs typeface="Alatsi"/>
                  <a:sym typeface="Alatsi"/>
                </a:rPr>
                <a:t>Workflows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27227" y="4679839"/>
            <a:ext cx="5515794" cy="1464310"/>
            <a:chOff x="0" y="0"/>
            <a:chExt cx="1452719" cy="3856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52719" cy="385662"/>
            </a:xfrm>
            <a:custGeom>
              <a:avLst/>
              <a:gdLst/>
              <a:ahLst/>
              <a:cxnLst/>
              <a:rect r="r" b="b" t="t" l="l"/>
              <a:pathLst>
                <a:path h="385662" w="1452719">
                  <a:moveTo>
                    <a:pt x="25265" y="0"/>
                  </a:moveTo>
                  <a:lnTo>
                    <a:pt x="1427455" y="0"/>
                  </a:lnTo>
                  <a:cubicBezTo>
                    <a:pt x="1441408" y="0"/>
                    <a:pt x="1452719" y="11311"/>
                    <a:pt x="1452719" y="25265"/>
                  </a:cubicBezTo>
                  <a:lnTo>
                    <a:pt x="1452719" y="360397"/>
                  </a:lnTo>
                  <a:cubicBezTo>
                    <a:pt x="1452719" y="367098"/>
                    <a:pt x="1450058" y="373524"/>
                    <a:pt x="1445320" y="378262"/>
                  </a:cubicBezTo>
                  <a:cubicBezTo>
                    <a:pt x="1440582" y="383000"/>
                    <a:pt x="1434155" y="385662"/>
                    <a:pt x="1427455" y="385662"/>
                  </a:cubicBezTo>
                  <a:lnTo>
                    <a:pt x="25265" y="385662"/>
                  </a:lnTo>
                  <a:cubicBezTo>
                    <a:pt x="11311" y="385662"/>
                    <a:pt x="0" y="374351"/>
                    <a:pt x="0" y="360397"/>
                  </a:cubicBezTo>
                  <a:lnTo>
                    <a:pt x="0" y="25265"/>
                  </a:lnTo>
                  <a:cubicBezTo>
                    <a:pt x="0" y="11311"/>
                    <a:pt x="11311" y="0"/>
                    <a:pt x="25265" y="0"/>
                  </a:cubicBezTo>
                  <a:close/>
                </a:path>
              </a:pathLst>
            </a:custGeom>
            <a:solidFill>
              <a:srgbClr val="E9C7C6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452719" cy="442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50505"/>
                  </a:solidFill>
                  <a:latin typeface="Alatsi"/>
                  <a:ea typeface="Alatsi"/>
                  <a:cs typeface="Alatsi"/>
                  <a:sym typeface="Alatsi"/>
                </a:rPr>
                <a:t>2. Information Retrieval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flipH="true" flipV="true">
            <a:off x="9595614" y="3728019"/>
            <a:ext cx="4589510" cy="95182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2526082" y="4679842"/>
            <a:ext cx="5821715" cy="1464307"/>
            <a:chOff x="0" y="0"/>
            <a:chExt cx="1533291" cy="3856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33291" cy="385661"/>
            </a:xfrm>
            <a:custGeom>
              <a:avLst/>
              <a:gdLst/>
              <a:ahLst/>
              <a:cxnLst/>
              <a:rect r="r" b="b" t="t" l="l"/>
              <a:pathLst>
                <a:path h="385661" w="1533291">
                  <a:moveTo>
                    <a:pt x="31916" y="0"/>
                  </a:moveTo>
                  <a:lnTo>
                    <a:pt x="1501375" y="0"/>
                  </a:lnTo>
                  <a:cubicBezTo>
                    <a:pt x="1509840" y="0"/>
                    <a:pt x="1517958" y="3363"/>
                    <a:pt x="1523943" y="9348"/>
                  </a:cubicBezTo>
                  <a:cubicBezTo>
                    <a:pt x="1529929" y="15333"/>
                    <a:pt x="1533291" y="23451"/>
                    <a:pt x="1533291" y="31916"/>
                  </a:cubicBezTo>
                  <a:lnTo>
                    <a:pt x="1533291" y="353745"/>
                  </a:lnTo>
                  <a:cubicBezTo>
                    <a:pt x="1533291" y="362210"/>
                    <a:pt x="1529929" y="370328"/>
                    <a:pt x="1523943" y="376313"/>
                  </a:cubicBezTo>
                  <a:cubicBezTo>
                    <a:pt x="1517958" y="382299"/>
                    <a:pt x="1509840" y="385661"/>
                    <a:pt x="1501375" y="385661"/>
                  </a:cubicBezTo>
                  <a:lnTo>
                    <a:pt x="31916" y="385661"/>
                  </a:lnTo>
                  <a:cubicBezTo>
                    <a:pt x="23451" y="385661"/>
                    <a:pt x="15333" y="382299"/>
                    <a:pt x="9348" y="376313"/>
                  </a:cubicBezTo>
                  <a:cubicBezTo>
                    <a:pt x="3363" y="370328"/>
                    <a:pt x="0" y="362210"/>
                    <a:pt x="0" y="353745"/>
                  </a:cubicBezTo>
                  <a:lnTo>
                    <a:pt x="0" y="31916"/>
                  </a:lnTo>
                  <a:cubicBezTo>
                    <a:pt x="0" y="23451"/>
                    <a:pt x="3363" y="15333"/>
                    <a:pt x="9348" y="9348"/>
                  </a:cubicBezTo>
                  <a:cubicBezTo>
                    <a:pt x="15333" y="3363"/>
                    <a:pt x="23451" y="0"/>
                    <a:pt x="31916" y="0"/>
                  </a:cubicBezTo>
                  <a:close/>
                </a:path>
              </a:pathLst>
            </a:custGeom>
            <a:solidFill>
              <a:srgbClr val="E9C7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533291" cy="452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690872" indent="-345436" lvl="1">
                <a:lnSpc>
                  <a:spcPts val="4479"/>
                </a:lnSpc>
                <a:buAutoNum type="arabicPeriod" startAt="1"/>
              </a:pPr>
              <a:r>
                <a:rPr lang="en-US" sz="3199">
                  <a:solidFill>
                    <a:srgbClr val="050505"/>
                  </a:solidFill>
                  <a:latin typeface="Alatsi"/>
                  <a:ea typeface="Alatsi"/>
                  <a:cs typeface="Alatsi"/>
                  <a:sym typeface="Alatsi"/>
                </a:rPr>
                <a:t>Information Dissemination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5436939" y="3728019"/>
            <a:ext cx="4158674" cy="95182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2526082" y="-161925"/>
            <a:ext cx="131800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SYSTEM ARCHITECTURE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25483" y="1970225"/>
            <a:ext cx="12523929" cy="45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</a:pPr>
            <a:r>
              <a:rPr lang="en-US" sz="2672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Divided into two main workflows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24917" y="6401495"/>
            <a:ext cx="3363734" cy="243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7021" indent="-373510" lvl="1">
              <a:lnSpc>
                <a:spcPts val="4844"/>
              </a:lnSpc>
              <a:buFont typeface="Arial"/>
              <a:buChar char="•"/>
            </a:pPr>
            <a:r>
              <a:rPr lang="en-US" b="true" sz="3460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Collect </a:t>
            </a:r>
          </a:p>
          <a:p>
            <a:pPr algn="l" marL="747021" indent="-373510" lvl="1">
              <a:lnSpc>
                <a:spcPts val="4844"/>
              </a:lnSpc>
              <a:buFont typeface="Arial"/>
              <a:buChar char="•"/>
            </a:pPr>
            <a:r>
              <a:rPr lang="en-US" b="true" sz="3460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Share</a:t>
            </a:r>
          </a:p>
          <a:p>
            <a:pPr algn="l" marL="747021" indent="-373510" lvl="1">
              <a:lnSpc>
                <a:spcPts val="4844"/>
              </a:lnSpc>
              <a:buFont typeface="Arial"/>
              <a:buChar char="•"/>
            </a:pPr>
            <a:r>
              <a:rPr lang="en-US" b="true" sz="3460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Update</a:t>
            </a:r>
          </a:p>
          <a:p>
            <a:pPr algn="l">
              <a:lnSpc>
                <a:spcPts val="4844"/>
              </a:lnSpc>
            </a:pPr>
            <a:r>
              <a:rPr lang="en-US" sz="3460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Fault Tolerantly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23550" y="6429899"/>
            <a:ext cx="4135606" cy="182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4"/>
              </a:lnSpc>
            </a:pPr>
            <a:r>
              <a:rPr lang="en-US" sz="3460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Query for</a:t>
            </a:r>
          </a:p>
          <a:p>
            <a:pPr algn="l" marL="747021" indent="-373510" lvl="1">
              <a:lnSpc>
                <a:spcPts val="4844"/>
              </a:lnSpc>
              <a:buFont typeface="Arial"/>
              <a:buChar char="•"/>
            </a:pPr>
            <a:r>
              <a:rPr lang="en-US" b="true" sz="3460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Fresh</a:t>
            </a:r>
            <a:r>
              <a:rPr lang="en-US" b="true" sz="3460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 marL="747021" indent="-373510" lvl="1">
              <a:lnSpc>
                <a:spcPts val="4844"/>
              </a:lnSpc>
              <a:buFont typeface="Arial"/>
              <a:buChar char="•"/>
            </a:pPr>
            <a:r>
              <a:rPr lang="en-US" b="true" sz="3460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Consistent data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282559" y="345440"/>
            <a:ext cx="71580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0762" y="163570"/>
            <a:ext cx="13590674" cy="121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64"/>
              </a:lnSpc>
            </a:pPr>
            <a:r>
              <a:rPr lang="en-US" sz="7117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PRIORITY BASED FILTERING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7362" y="0"/>
            <a:ext cx="937061" cy="10287000"/>
            <a:chOff x="0" y="0"/>
            <a:chExt cx="24679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67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H="true" flipV="true">
            <a:off x="1085850" y="7289441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 flipV="true">
            <a:off x="1090490" y="-104525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5915855" y="0"/>
            <a:ext cx="1449213" cy="1673225"/>
            <a:chOff x="0" y="0"/>
            <a:chExt cx="703982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3982" cy="812800"/>
            </a:xfrm>
            <a:custGeom>
              <a:avLst/>
              <a:gdLst/>
              <a:ahLst/>
              <a:cxnLst/>
              <a:rect r="r" b="b" t="t" l="l"/>
              <a:pathLst>
                <a:path h="812800" w="703982">
                  <a:moveTo>
                    <a:pt x="234787" y="793731"/>
                  </a:moveTo>
                  <a:cubicBezTo>
                    <a:pt x="270879" y="805245"/>
                    <a:pt x="311910" y="812800"/>
                    <a:pt x="352180" y="812800"/>
                  </a:cubicBezTo>
                  <a:cubicBezTo>
                    <a:pt x="392452" y="812800"/>
                    <a:pt x="431204" y="806323"/>
                    <a:pt x="466915" y="794809"/>
                  </a:cubicBezTo>
                  <a:cubicBezTo>
                    <a:pt x="467675" y="794450"/>
                    <a:pt x="468435" y="794450"/>
                    <a:pt x="469194" y="794090"/>
                  </a:cubicBezTo>
                  <a:cubicBezTo>
                    <a:pt x="603304" y="748035"/>
                    <a:pt x="702082" y="626421"/>
                    <a:pt x="703982" y="484298"/>
                  </a:cubicBezTo>
                  <a:lnTo>
                    <a:pt x="703982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900" y="627140"/>
                    <a:pt x="99158" y="748755"/>
                    <a:pt x="234787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03982" cy="73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373863" y="925830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5115168" y="-94197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063630" y="1939567"/>
            <a:ext cx="3096321" cy="1501229"/>
            <a:chOff x="0" y="0"/>
            <a:chExt cx="1175289" cy="5698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5289" cy="569830"/>
            </a:xfrm>
            <a:custGeom>
              <a:avLst/>
              <a:gdLst/>
              <a:ahLst/>
              <a:cxnLst/>
              <a:rect r="r" b="b" t="t" l="l"/>
              <a:pathLst>
                <a:path h="569830" w="1175289">
                  <a:moveTo>
                    <a:pt x="587644" y="0"/>
                  </a:moveTo>
                  <a:cubicBezTo>
                    <a:pt x="263097" y="0"/>
                    <a:pt x="0" y="127561"/>
                    <a:pt x="0" y="284915"/>
                  </a:cubicBezTo>
                  <a:cubicBezTo>
                    <a:pt x="0" y="442269"/>
                    <a:pt x="263097" y="569830"/>
                    <a:pt x="587644" y="569830"/>
                  </a:cubicBezTo>
                  <a:cubicBezTo>
                    <a:pt x="912191" y="569830"/>
                    <a:pt x="1175289" y="442269"/>
                    <a:pt x="1175289" y="284915"/>
                  </a:cubicBezTo>
                  <a:cubicBezTo>
                    <a:pt x="1175289" y="127561"/>
                    <a:pt x="912191" y="0"/>
                    <a:pt x="587644" y="0"/>
                  </a:cubicBezTo>
                  <a:close/>
                </a:path>
              </a:pathLst>
            </a:custGeom>
            <a:solidFill>
              <a:srgbClr val="FEECC7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10183" y="-13253"/>
              <a:ext cx="954922" cy="529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50505"/>
                  </a:solidFill>
                  <a:latin typeface="Alatsi"/>
                  <a:ea typeface="Alatsi"/>
                  <a:cs typeface="Alatsi"/>
                  <a:sym typeface="Alatsi"/>
                </a:rPr>
                <a:t>PRIORITY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02494" y="4241165"/>
            <a:ext cx="2257457" cy="902335"/>
            <a:chOff x="0" y="0"/>
            <a:chExt cx="594557" cy="2376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557" cy="237652"/>
            </a:xfrm>
            <a:custGeom>
              <a:avLst/>
              <a:gdLst/>
              <a:ahLst/>
              <a:cxnLst/>
              <a:rect r="r" b="b" t="t" l="l"/>
              <a:pathLst>
                <a:path h="237652" w="594557">
                  <a:moveTo>
                    <a:pt x="61731" y="0"/>
                  </a:moveTo>
                  <a:lnTo>
                    <a:pt x="532826" y="0"/>
                  </a:lnTo>
                  <a:cubicBezTo>
                    <a:pt x="566919" y="0"/>
                    <a:pt x="594557" y="27638"/>
                    <a:pt x="594557" y="61731"/>
                  </a:cubicBezTo>
                  <a:lnTo>
                    <a:pt x="594557" y="175921"/>
                  </a:lnTo>
                  <a:cubicBezTo>
                    <a:pt x="594557" y="192293"/>
                    <a:pt x="588053" y="207995"/>
                    <a:pt x="576476" y="219572"/>
                  </a:cubicBezTo>
                  <a:cubicBezTo>
                    <a:pt x="564899" y="231148"/>
                    <a:pt x="549198" y="237652"/>
                    <a:pt x="532826" y="237652"/>
                  </a:cubicBezTo>
                  <a:lnTo>
                    <a:pt x="61731" y="237652"/>
                  </a:lnTo>
                  <a:cubicBezTo>
                    <a:pt x="27638" y="237652"/>
                    <a:pt x="0" y="210014"/>
                    <a:pt x="0" y="175921"/>
                  </a:cubicBezTo>
                  <a:lnTo>
                    <a:pt x="0" y="61731"/>
                  </a:lnTo>
                  <a:cubicBezTo>
                    <a:pt x="0" y="27638"/>
                    <a:pt x="27638" y="0"/>
                    <a:pt x="61731" y="0"/>
                  </a:cubicBezTo>
                  <a:close/>
                </a:path>
              </a:pathLst>
            </a:custGeom>
            <a:solidFill>
              <a:srgbClr val="E9C7C6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594557" cy="294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50505"/>
                  </a:solidFill>
                  <a:latin typeface="Alatsi"/>
                  <a:ea typeface="Alatsi"/>
                  <a:cs typeface="Alatsi"/>
                  <a:sym typeface="Alatsi"/>
                </a:rPr>
                <a:t>MEDIUM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9611791" y="3440796"/>
            <a:ext cx="419432" cy="800369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3309961" y="4142854"/>
            <a:ext cx="3354688" cy="1000646"/>
            <a:chOff x="0" y="0"/>
            <a:chExt cx="883539" cy="2635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83539" cy="263545"/>
            </a:xfrm>
            <a:custGeom>
              <a:avLst/>
              <a:gdLst/>
              <a:ahLst/>
              <a:cxnLst/>
              <a:rect r="r" b="b" t="t" l="l"/>
              <a:pathLst>
                <a:path h="263545" w="883539">
                  <a:moveTo>
                    <a:pt x="55387" y="0"/>
                  </a:moveTo>
                  <a:lnTo>
                    <a:pt x="828152" y="0"/>
                  </a:lnTo>
                  <a:cubicBezTo>
                    <a:pt x="858742" y="0"/>
                    <a:pt x="883539" y="24798"/>
                    <a:pt x="883539" y="55387"/>
                  </a:cubicBezTo>
                  <a:lnTo>
                    <a:pt x="883539" y="208158"/>
                  </a:lnTo>
                  <a:cubicBezTo>
                    <a:pt x="883539" y="238747"/>
                    <a:pt x="858742" y="263545"/>
                    <a:pt x="828152" y="263545"/>
                  </a:cubicBezTo>
                  <a:lnTo>
                    <a:pt x="55387" y="263545"/>
                  </a:lnTo>
                  <a:cubicBezTo>
                    <a:pt x="40697" y="263545"/>
                    <a:pt x="26610" y="257709"/>
                    <a:pt x="16222" y="247322"/>
                  </a:cubicBezTo>
                  <a:cubicBezTo>
                    <a:pt x="5835" y="236935"/>
                    <a:pt x="0" y="222847"/>
                    <a:pt x="0" y="208158"/>
                  </a:cubicBezTo>
                  <a:lnTo>
                    <a:pt x="0" y="55387"/>
                  </a:lnTo>
                  <a:cubicBezTo>
                    <a:pt x="0" y="24798"/>
                    <a:pt x="24798" y="0"/>
                    <a:pt x="55387" y="0"/>
                  </a:cubicBezTo>
                  <a:close/>
                </a:path>
              </a:pathLst>
            </a:custGeom>
            <a:solidFill>
              <a:srgbClr val="E9C7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883539" cy="330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050505"/>
                  </a:solidFill>
                  <a:latin typeface="Alatsi"/>
                  <a:ea typeface="Alatsi"/>
                  <a:cs typeface="Alatsi"/>
                  <a:sym typeface="Alatsi"/>
                </a:rPr>
                <a:t>HIGH 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V="true">
            <a:off x="4987305" y="3440796"/>
            <a:ext cx="4624486" cy="702058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H="true" flipV="true">
            <a:off x="9611791" y="3440796"/>
            <a:ext cx="4723934" cy="73711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3204682" y="4192009"/>
            <a:ext cx="2257457" cy="902335"/>
            <a:chOff x="0" y="0"/>
            <a:chExt cx="594557" cy="2376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557" cy="237652"/>
            </a:xfrm>
            <a:custGeom>
              <a:avLst/>
              <a:gdLst/>
              <a:ahLst/>
              <a:cxnLst/>
              <a:rect r="r" b="b" t="t" l="l"/>
              <a:pathLst>
                <a:path h="237652" w="594557">
                  <a:moveTo>
                    <a:pt x="61731" y="0"/>
                  </a:moveTo>
                  <a:lnTo>
                    <a:pt x="532826" y="0"/>
                  </a:lnTo>
                  <a:cubicBezTo>
                    <a:pt x="566919" y="0"/>
                    <a:pt x="594557" y="27638"/>
                    <a:pt x="594557" y="61731"/>
                  </a:cubicBezTo>
                  <a:lnTo>
                    <a:pt x="594557" y="175921"/>
                  </a:lnTo>
                  <a:cubicBezTo>
                    <a:pt x="594557" y="192293"/>
                    <a:pt x="588053" y="207995"/>
                    <a:pt x="576476" y="219572"/>
                  </a:cubicBezTo>
                  <a:cubicBezTo>
                    <a:pt x="564899" y="231148"/>
                    <a:pt x="549198" y="237652"/>
                    <a:pt x="532826" y="237652"/>
                  </a:cubicBezTo>
                  <a:lnTo>
                    <a:pt x="61731" y="237652"/>
                  </a:lnTo>
                  <a:cubicBezTo>
                    <a:pt x="27638" y="237652"/>
                    <a:pt x="0" y="210014"/>
                    <a:pt x="0" y="175921"/>
                  </a:cubicBezTo>
                  <a:lnTo>
                    <a:pt x="0" y="61731"/>
                  </a:lnTo>
                  <a:cubicBezTo>
                    <a:pt x="0" y="27638"/>
                    <a:pt x="27638" y="0"/>
                    <a:pt x="61731" y="0"/>
                  </a:cubicBezTo>
                  <a:close/>
                </a:path>
              </a:pathLst>
            </a:custGeom>
            <a:solidFill>
              <a:srgbClr val="E9C7C6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94557" cy="294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50505"/>
                  </a:solidFill>
                  <a:latin typeface="Alatsi"/>
                  <a:ea typeface="Alatsi"/>
                  <a:cs typeface="Alatsi"/>
                  <a:sym typeface="Alatsi"/>
                </a:rPr>
                <a:t>LOW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-5400000">
            <a:off x="11961641" y="4749959"/>
            <a:ext cx="1268294" cy="5129131"/>
          </a:xfrm>
          <a:custGeom>
            <a:avLst/>
            <a:gdLst/>
            <a:ahLst/>
            <a:cxnLst/>
            <a:rect r="r" b="b" t="t" l="l"/>
            <a:pathLst>
              <a:path h="5129131" w="1268294">
                <a:moveTo>
                  <a:pt x="0" y="0"/>
                </a:moveTo>
                <a:lnTo>
                  <a:pt x="1268295" y="0"/>
                </a:lnTo>
                <a:lnTo>
                  <a:pt x="1268295" y="5129131"/>
                </a:lnTo>
                <a:lnTo>
                  <a:pt x="0" y="5129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348377" y="7948672"/>
            <a:ext cx="1795623" cy="1241558"/>
          </a:xfrm>
          <a:custGeom>
            <a:avLst/>
            <a:gdLst/>
            <a:ahLst/>
            <a:cxnLst/>
            <a:rect r="r" b="b" t="t" l="l"/>
            <a:pathLst>
              <a:path h="1241558" w="1795623">
                <a:moveTo>
                  <a:pt x="0" y="0"/>
                </a:moveTo>
                <a:lnTo>
                  <a:pt x="1795623" y="0"/>
                </a:lnTo>
                <a:lnTo>
                  <a:pt x="1795623" y="1241558"/>
                </a:lnTo>
                <a:lnTo>
                  <a:pt x="0" y="1241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046548" y="5644655"/>
            <a:ext cx="5136752" cy="280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8687" indent="-344343" lvl="1">
              <a:lnSpc>
                <a:spcPts val="4465"/>
              </a:lnSpc>
              <a:buFont typeface="Arial"/>
              <a:buChar char="•"/>
            </a:pPr>
            <a:r>
              <a:rPr lang="en-US" b="true" sz="318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Never filtered</a:t>
            </a:r>
          </a:p>
          <a:p>
            <a:pPr algn="l" marL="688687" indent="-344343" lvl="1">
              <a:lnSpc>
                <a:spcPts val="4465"/>
              </a:lnSpc>
              <a:buFont typeface="Arial"/>
              <a:buChar char="•"/>
            </a:pPr>
            <a:r>
              <a:rPr lang="en-US" b="true" sz="318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Vital data metrics like CPU</a:t>
            </a:r>
          </a:p>
          <a:p>
            <a:pPr algn="l" marL="688687" indent="-344343" lvl="1">
              <a:lnSpc>
                <a:spcPts val="4465"/>
              </a:lnSpc>
              <a:buFont typeface="Arial"/>
              <a:buChar char="•"/>
            </a:pPr>
            <a:r>
              <a:rPr lang="en-US" b="true" sz="318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Zero bandwidth saving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69074" y="5468598"/>
            <a:ext cx="5136752" cy="1109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8687" indent="-344343" lvl="1">
              <a:lnSpc>
                <a:spcPts val="4465"/>
              </a:lnSpc>
              <a:buFont typeface="Arial"/>
              <a:buChar char="•"/>
            </a:pPr>
            <a:r>
              <a:rPr lang="en-US" b="true" sz="318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Sent less frequently</a:t>
            </a:r>
          </a:p>
          <a:p>
            <a:pPr algn="l">
              <a:lnSpc>
                <a:spcPts val="4465"/>
              </a:lnSpc>
            </a:pPr>
            <a:r>
              <a:rPr lang="en-US" sz="3189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(Every k rounds)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51248" y="5468598"/>
            <a:ext cx="5136752" cy="1109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8687" indent="-344343" lvl="1">
              <a:lnSpc>
                <a:spcPts val="4465"/>
              </a:lnSpc>
              <a:buFont typeface="Arial"/>
              <a:buChar char="•"/>
            </a:pPr>
            <a:r>
              <a:rPr lang="en-US" b="true" sz="318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Sent least frequently</a:t>
            </a:r>
          </a:p>
          <a:p>
            <a:pPr algn="l">
              <a:lnSpc>
                <a:spcPts val="4465"/>
              </a:lnSpc>
            </a:pPr>
            <a:r>
              <a:rPr lang="en-US" sz="3189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(Every p rounds , p&gt;k)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80551" y="8158222"/>
            <a:ext cx="8050550" cy="1100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5"/>
              </a:lnSpc>
            </a:pPr>
            <a:r>
              <a:rPr lang="en-US" b="true" sz="318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Delta (Δ) Threshold to handle sudden spikes/dips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261128" y="345440"/>
            <a:ext cx="75866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4423" y="123117"/>
            <a:ext cx="14369514" cy="1284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35"/>
              </a:lnSpc>
            </a:pPr>
            <a:r>
              <a:rPr lang="en-US" sz="7525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INFORMATION RETRIEVAL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7362" y="0"/>
            <a:ext cx="937061" cy="10287000"/>
            <a:chOff x="0" y="0"/>
            <a:chExt cx="24679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67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H="true" flipV="true">
            <a:off x="1085850" y="7289441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 flipV="true">
            <a:off x="1090490" y="-104525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5915855" y="0"/>
            <a:ext cx="1449213" cy="1673225"/>
            <a:chOff x="0" y="0"/>
            <a:chExt cx="703982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3982" cy="812800"/>
            </a:xfrm>
            <a:custGeom>
              <a:avLst/>
              <a:gdLst/>
              <a:ahLst/>
              <a:cxnLst/>
              <a:rect r="r" b="b" t="t" l="l"/>
              <a:pathLst>
                <a:path h="812800" w="703982">
                  <a:moveTo>
                    <a:pt x="234787" y="793731"/>
                  </a:moveTo>
                  <a:cubicBezTo>
                    <a:pt x="270879" y="805245"/>
                    <a:pt x="311910" y="812800"/>
                    <a:pt x="352180" y="812800"/>
                  </a:cubicBezTo>
                  <a:cubicBezTo>
                    <a:pt x="392452" y="812800"/>
                    <a:pt x="431204" y="806323"/>
                    <a:pt x="466915" y="794809"/>
                  </a:cubicBezTo>
                  <a:cubicBezTo>
                    <a:pt x="467675" y="794450"/>
                    <a:pt x="468435" y="794450"/>
                    <a:pt x="469194" y="794090"/>
                  </a:cubicBezTo>
                  <a:cubicBezTo>
                    <a:pt x="603304" y="748035"/>
                    <a:pt x="702082" y="626421"/>
                    <a:pt x="703982" y="484298"/>
                  </a:cubicBezTo>
                  <a:lnTo>
                    <a:pt x="703982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900" y="627140"/>
                    <a:pt x="99158" y="748755"/>
                    <a:pt x="234787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03982" cy="73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536178" y="904810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657600" y="-12388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30696" y="2102168"/>
            <a:ext cx="11563480" cy="7964347"/>
          </a:xfrm>
          <a:custGeom>
            <a:avLst/>
            <a:gdLst/>
            <a:ahLst/>
            <a:cxnLst/>
            <a:rect r="r" b="b" t="t" l="l"/>
            <a:pathLst>
              <a:path h="7964347" w="11563480">
                <a:moveTo>
                  <a:pt x="0" y="0"/>
                </a:moveTo>
                <a:lnTo>
                  <a:pt x="11563480" y="0"/>
                </a:lnTo>
                <a:lnTo>
                  <a:pt x="11563480" y="7964347"/>
                </a:lnTo>
                <a:lnTo>
                  <a:pt x="0" y="79643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028080" y="3195491"/>
            <a:ext cx="971200" cy="971200"/>
          </a:xfrm>
          <a:custGeom>
            <a:avLst/>
            <a:gdLst/>
            <a:ahLst/>
            <a:cxnLst/>
            <a:rect r="r" b="b" t="t" l="l"/>
            <a:pathLst>
              <a:path h="971200" w="971200">
                <a:moveTo>
                  <a:pt x="0" y="0"/>
                </a:moveTo>
                <a:lnTo>
                  <a:pt x="971199" y="0"/>
                </a:lnTo>
                <a:lnTo>
                  <a:pt x="971199" y="971199"/>
                </a:lnTo>
                <a:lnTo>
                  <a:pt x="0" y="9711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323866" y="1616075"/>
            <a:ext cx="6797636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Uses Lea</a:t>
            </a:r>
            <a:r>
              <a:rPr lang="en-US" b="true" sz="2599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derless Quorum Consensus (LQC)</a:t>
            </a:r>
          </a:p>
          <a:p>
            <a:pPr algn="ctr">
              <a:lnSpc>
                <a:spcPts val="363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8389424" y="2426300"/>
            <a:ext cx="1046024" cy="46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b="true" sz="2751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267855" y="345440"/>
            <a:ext cx="74521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5832" y="-144908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 flipV="true">
            <a:off x="1085850" y="7289441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090490" y="-104525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117904" y="0"/>
            <a:ext cx="1449213" cy="1673225"/>
            <a:chOff x="0" y="0"/>
            <a:chExt cx="70398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3982" cy="812800"/>
            </a:xfrm>
            <a:custGeom>
              <a:avLst/>
              <a:gdLst/>
              <a:ahLst/>
              <a:cxnLst/>
              <a:rect r="r" b="b" t="t" l="l"/>
              <a:pathLst>
                <a:path h="812800" w="703982">
                  <a:moveTo>
                    <a:pt x="234787" y="793731"/>
                  </a:moveTo>
                  <a:cubicBezTo>
                    <a:pt x="270879" y="805245"/>
                    <a:pt x="311910" y="812800"/>
                    <a:pt x="352180" y="812800"/>
                  </a:cubicBezTo>
                  <a:cubicBezTo>
                    <a:pt x="392452" y="812800"/>
                    <a:pt x="431204" y="806323"/>
                    <a:pt x="466915" y="794809"/>
                  </a:cubicBezTo>
                  <a:cubicBezTo>
                    <a:pt x="467675" y="794450"/>
                    <a:pt x="468435" y="794450"/>
                    <a:pt x="469194" y="794090"/>
                  </a:cubicBezTo>
                  <a:cubicBezTo>
                    <a:pt x="603304" y="748035"/>
                    <a:pt x="702082" y="626421"/>
                    <a:pt x="703982" y="484298"/>
                  </a:cubicBezTo>
                  <a:lnTo>
                    <a:pt x="703982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900" y="627140"/>
                    <a:pt x="99158" y="748755"/>
                    <a:pt x="234787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03982" cy="73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721225" y="878816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12233" y="1791910"/>
            <a:ext cx="4792723" cy="7291993"/>
            <a:chOff x="0" y="0"/>
            <a:chExt cx="1197808" cy="18224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97808" cy="1822431"/>
            </a:xfrm>
            <a:custGeom>
              <a:avLst/>
              <a:gdLst/>
              <a:ahLst/>
              <a:cxnLst/>
              <a:rect r="r" b="b" t="t" l="l"/>
              <a:pathLst>
                <a:path h="1822431" w="1197808">
                  <a:moveTo>
                    <a:pt x="82383" y="0"/>
                  </a:moveTo>
                  <a:lnTo>
                    <a:pt x="1115425" y="0"/>
                  </a:lnTo>
                  <a:cubicBezTo>
                    <a:pt x="1137274" y="0"/>
                    <a:pt x="1158229" y="8680"/>
                    <a:pt x="1173679" y="24129"/>
                  </a:cubicBezTo>
                  <a:cubicBezTo>
                    <a:pt x="1189128" y="39579"/>
                    <a:pt x="1197808" y="60534"/>
                    <a:pt x="1197808" y="82383"/>
                  </a:cubicBezTo>
                  <a:lnTo>
                    <a:pt x="1197808" y="1740048"/>
                  </a:lnTo>
                  <a:cubicBezTo>
                    <a:pt x="1197808" y="1761897"/>
                    <a:pt x="1189128" y="1782852"/>
                    <a:pt x="1173679" y="1798301"/>
                  </a:cubicBezTo>
                  <a:cubicBezTo>
                    <a:pt x="1158229" y="1813751"/>
                    <a:pt x="1137274" y="1822431"/>
                    <a:pt x="1115425" y="1822431"/>
                  </a:cubicBezTo>
                  <a:lnTo>
                    <a:pt x="82383" y="1822431"/>
                  </a:lnTo>
                  <a:cubicBezTo>
                    <a:pt x="60534" y="1822431"/>
                    <a:pt x="39579" y="1813751"/>
                    <a:pt x="24129" y="1798301"/>
                  </a:cubicBezTo>
                  <a:cubicBezTo>
                    <a:pt x="8680" y="1782852"/>
                    <a:pt x="0" y="1761897"/>
                    <a:pt x="0" y="1740048"/>
                  </a:cubicBezTo>
                  <a:lnTo>
                    <a:pt x="0" y="82383"/>
                  </a:lnTo>
                  <a:cubicBezTo>
                    <a:pt x="0" y="60534"/>
                    <a:pt x="8680" y="39579"/>
                    <a:pt x="24129" y="24129"/>
                  </a:cubicBezTo>
                  <a:cubicBezTo>
                    <a:pt x="39579" y="8680"/>
                    <a:pt x="60534" y="0"/>
                    <a:pt x="82383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71450"/>
              <a:ext cx="1197808" cy="1993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647700" indent="-323850" lvl="1">
                <a:lnSpc>
                  <a:spcPts val="543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~50% consistent tr</a:t>
              </a: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ansmission reduction across all node scales</a:t>
              </a:r>
            </a:p>
            <a:p>
              <a:pPr algn="l" marL="647700" indent="-323850" lvl="1">
                <a:lnSpc>
                  <a:spcPts val="543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VoI system: ~310K vs Baseline: ~600K transmissions (10 nodes)</a:t>
              </a:r>
            </a:p>
            <a:p>
              <a:pPr algn="l" marL="647700" indent="-323850" lvl="1">
                <a:lnSpc>
                  <a:spcPts val="543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Framework scales efficiently with node growth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1557590" y="304364"/>
            <a:ext cx="928559" cy="944006"/>
          </a:xfrm>
          <a:custGeom>
            <a:avLst/>
            <a:gdLst/>
            <a:ahLst/>
            <a:cxnLst/>
            <a:rect r="r" b="b" t="t" l="l"/>
            <a:pathLst>
              <a:path h="944006" w="928559">
                <a:moveTo>
                  <a:pt x="928559" y="0"/>
                </a:moveTo>
                <a:lnTo>
                  <a:pt x="0" y="0"/>
                </a:lnTo>
                <a:lnTo>
                  <a:pt x="0" y="944006"/>
                </a:lnTo>
                <a:lnTo>
                  <a:pt x="928559" y="944006"/>
                </a:lnTo>
                <a:lnTo>
                  <a:pt x="92855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064147" y="1791910"/>
            <a:ext cx="10972278" cy="7291993"/>
          </a:xfrm>
          <a:custGeom>
            <a:avLst/>
            <a:gdLst/>
            <a:ahLst/>
            <a:cxnLst/>
            <a:rect r="r" b="b" t="t" l="l"/>
            <a:pathLst>
              <a:path h="7291993" w="10972278">
                <a:moveTo>
                  <a:pt x="0" y="0"/>
                </a:moveTo>
                <a:lnTo>
                  <a:pt x="10972278" y="0"/>
                </a:lnTo>
                <a:lnTo>
                  <a:pt x="10972278" y="7291993"/>
                </a:lnTo>
                <a:lnTo>
                  <a:pt x="0" y="72919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1" t="0" r="-71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890696" y="209114"/>
            <a:ext cx="12481823" cy="154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6"/>
              </a:lnSpc>
            </a:pPr>
            <a:r>
              <a:rPr lang="en-US" b="true" sz="43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Dramatic Reduction in Overall Network Traffic</a:t>
            </a:r>
          </a:p>
          <a:p>
            <a:pPr algn="ctr">
              <a:lnSpc>
                <a:spcPts val="614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6460558" y="361275"/>
            <a:ext cx="76390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5832" y="-144908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 flipV="true">
            <a:off x="1085850" y="7289441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090490" y="-104525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117904" y="-104525"/>
            <a:ext cx="1449213" cy="1673225"/>
            <a:chOff x="0" y="0"/>
            <a:chExt cx="70398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3982" cy="812800"/>
            </a:xfrm>
            <a:custGeom>
              <a:avLst/>
              <a:gdLst/>
              <a:ahLst/>
              <a:cxnLst/>
              <a:rect r="r" b="b" t="t" l="l"/>
              <a:pathLst>
                <a:path h="812800" w="703982">
                  <a:moveTo>
                    <a:pt x="234787" y="793731"/>
                  </a:moveTo>
                  <a:cubicBezTo>
                    <a:pt x="270879" y="805245"/>
                    <a:pt x="311910" y="812800"/>
                    <a:pt x="352180" y="812800"/>
                  </a:cubicBezTo>
                  <a:cubicBezTo>
                    <a:pt x="392452" y="812800"/>
                    <a:pt x="431204" y="806323"/>
                    <a:pt x="466915" y="794809"/>
                  </a:cubicBezTo>
                  <a:cubicBezTo>
                    <a:pt x="467675" y="794450"/>
                    <a:pt x="468435" y="794450"/>
                    <a:pt x="469194" y="794090"/>
                  </a:cubicBezTo>
                  <a:cubicBezTo>
                    <a:pt x="603304" y="748035"/>
                    <a:pt x="702082" y="626421"/>
                    <a:pt x="703982" y="484298"/>
                  </a:cubicBezTo>
                  <a:lnTo>
                    <a:pt x="703982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900" y="627140"/>
                    <a:pt x="99158" y="748755"/>
                    <a:pt x="234787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03982" cy="73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721225" y="878816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12233" y="1791910"/>
            <a:ext cx="4792723" cy="7258050"/>
            <a:chOff x="0" y="0"/>
            <a:chExt cx="1197808" cy="18139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97808" cy="1813948"/>
            </a:xfrm>
            <a:custGeom>
              <a:avLst/>
              <a:gdLst/>
              <a:ahLst/>
              <a:cxnLst/>
              <a:rect r="r" b="b" t="t" l="l"/>
              <a:pathLst>
                <a:path h="1813948" w="1197808">
                  <a:moveTo>
                    <a:pt x="82383" y="0"/>
                  </a:moveTo>
                  <a:lnTo>
                    <a:pt x="1115425" y="0"/>
                  </a:lnTo>
                  <a:cubicBezTo>
                    <a:pt x="1137274" y="0"/>
                    <a:pt x="1158229" y="8680"/>
                    <a:pt x="1173679" y="24129"/>
                  </a:cubicBezTo>
                  <a:cubicBezTo>
                    <a:pt x="1189128" y="39579"/>
                    <a:pt x="1197808" y="60534"/>
                    <a:pt x="1197808" y="82383"/>
                  </a:cubicBezTo>
                  <a:lnTo>
                    <a:pt x="1197808" y="1731565"/>
                  </a:lnTo>
                  <a:cubicBezTo>
                    <a:pt x="1197808" y="1753414"/>
                    <a:pt x="1189128" y="1774368"/>
                    <a:pt x="1173679" y="1789818"/>
                  </a:cubicBezTo>
                  <a:cubicBezTo>
                    <a:pt x="1158229" y="1805268"/>
                    <a:pt x="1137274" y="1813948"/>
                    <a:pt x="1115425" y="1813948"/>
                  </a:cubicBezTo>
                  <a:lnTo>
                    <a:pt x="82383" y="1813948"/>
                  </a:lnTo>
                  <a:cubicBezTo>
                    <a:pt x="60534" y="1813948"/>
                    <a:pt x="39579" y="1805268"/>
                    <a:pt x="24129" y="1789818"/>
                  </a:cubicBezTo>
                  <a:cubicBezTo>
                    <a:pt x="8680" y="1774368"/>
                    <a:pt x="0" y="1753414"/>
                    <a:pt x="0" y="1731565"/>
                  </a:cubicBezTo>
                  <a:lnTo>
                    <a:pt x="0" y="82383"/>
                  </a:lnTo>
                  <a:cubicBezTo>
                    <a:pt x="0" y="60534"/>
                    <a:pt x="8680" y="39579"/>
                    <a:pt x="24129" y="24129"/>
                  </a:cubicBezTo>
                  <a:cubicBezTo>
                    <a:pt x="39579" y="8680"/>
                    <a:pt x="60534" y="0"/>
                    <a:pt x="82383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197808" cy="1871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CPU (High Priority): 100% tr</a:t>
              </a: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ansmitted (critical metric preserved)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Storage (L</a:t>
              </a: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ow Priority): 82.1% updates filtered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Memory &amp; Network (Medium Priority): moderate filtering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Confirms framework adapts filtering to metric importance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899861" y="1893982"/>
            <a:ext cx="11136564" cy="6375567"/>
          </a:xfrm>
          <a:custGeom>
            <a:avLst/>
            <a:gdLst/>
            <a:ahLst/>
            <a:cxnLst/>
            <a:rect r="r" b="b" t="t" l="l"/>
            <a:pathLst>
              <a:path h="6375567" w="11136564">
                <a:moveTo>
                  <a:pt x="0" y="0"/>
                </a:moveTo>
                <a:lnTo>
                  <a:pt x="11136564" y="0"/>
                </a:lnTo>
                <a:lnTo>
                  <a:pt x="11136564" y="6375566"/>
                </a:lnTo>
                <a:lnTo>
                  <a:pt x="0" y="63755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2" t="0" r="-402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783317" y="149068"/>
            <a:ext cx="1100580" cy="1100580"/>
          </a:xfrm>
          <a:custGeom>
            <a:avLst/>
            <a:gdLst/>
            <a:ahLst/>
            <a:cxnLst/>
            <a:rect r="r" b="b" t="t" l="l"/>
            <a:pathLst>
              <a:path h="1100580" w="1100580">
                <a:moveTo>
                  <a:pt x="0" y="0"/>
                </a:moveTo>
                <a:lnTo>
                  <a:pt x="1100579" y="0"/>
                </a:lnTo>
                <a:lnTo>
                  <a:pt x="1100579" y="1100580"/>
                </a:lnTo>
                <a:lnTo>
                  <a:pt x="0" y="11005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108281" y="296840"/>
            <a:ext cx="10575013" cy="728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7"/>
              </a:lnSpc>
            </a:pPr>
            <a:r>
              <a:rPr lang="en-US" sz="43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Validating Priority-Based Filtering Logic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13421" y="362553"/>
            <a:ext cx="65817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5832" y="-144908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 flipV="true">
            <a:off x="1085850" y="7289441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090490" y="-104525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117904" y="0"/>
            <a:ext cx="1449213" cy="1673225"/>
            <a:chOff x="0" y="0"/>
            <a:chExt cx="70398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3982" cy="812800"/>
            </a:xfrm>
            <a:custGeom>
              <a:avLst/>
              <a:gdLst/>
              <a:ahLst/>
              <a:cxnLst/>
              <a:rect r="r" b="b" t="t" l="l"/>
              <a:pathLst>
                <a:path h="812800" w="703982">
                  <a:moveTo>
                    <a:pt x="234787" y="793731"/>
                  </a:moveTo>
                  <a:cubicBezTo>
                    <a:pt x="270879" y="805245"/>
                    <a:pt x="311910" y="812800"/>
                    <a:pt x="352180" y="812800"/>
                  </a:cubicBezTo>
                  <a:cubicBezTo>
                    <a:pt x="392452" y="812800"/>
                    <a:pt x="431204" y="806323"/>
                    <a:pt x="466915" y="794809"/>
                  </a:cubicBezTo>
                  <a:cubicBezTo>
                    <a:pt x="467675" y="794450"/>
                    <a:pt x="468435" y="794450"/>
                    <a:pt x="469194" y="794090"/>
                  </a:cubicBezTo>
                  <a:cubicBezTo>
                    <a:pt x="603304" y="748035"/>
                    <a:pt x="702082" y="626421"/>
                    <a:pt x="703982" y="484298"/>
                  </a:cubicBezTo>
                  <a:lnTo>
                    <a:pt x="703982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900" y="627140"/>
                    <a:pt x="99158" y="748755"/>
                    <a:pt x="234787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03982" cy="73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721225" y="878816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75832" y="1811675"/>
            <a:ext cx="4785719" cy="6465698"/>
            <a:chOff x="0" y="0"/>
            <a:chExt cx="1196057" cy="16159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96057" cy="1615921"/>
            </a:xfrm>
            <a:custGeom>
              <a:avLst/>
              <a:gdLst/>
              <a:ahLst/>
              <a:cxnLst/>
              <a:rect r="r" b="b" t="t" l="l"/>
              <a:pathLst>
                <a:path h="1615921" w="1196057">
                  <a:moveTo>
                    <a:pt x="82503" y="0"/>
                  </a:moveTo>
                  <a:lnTo>
                    <a:pt x="1113554" y="0"/>
                  </a:lnTo>
                  <a:cubicBezTo>
                    <a:pt x="1159119" y="0"/>
                    <a:pt x="1196057" y="36938"/>
                    <a:pt x="1196057" y="82503"/>
                  </a:cubicBezTo>
                  <a:lnTo>
                    <a:pt x="1196057" y="1533418"/>
                  </a:lnTo>
                  <a:cubicBezTo>
                    <a:pt x="1196057" y="1555299"/>
                    <a:pt x="1187365" y="1576284"/>
                    <a:pt x="1171893" y="1591757"/>
                  </a:cubicBezTo>
                  <a:cubicBezTo>
                    <a:pt x="1156420" y="1607229"/>
                    <a:pt x="1135435" y="1615921"/>
                    <a:pt x="1113554" y="1615921"/>
                  </a:cubicBezTo>
                  <a:lnTo>
                    <a:pt x="82503" y="1615921"/>
                  </a:lnTo>
                  <a:cubicBezTo>
                    <a:pt x="60622" y="1615921"/>
                    <a:pt x="39637" y="1607229"/>
                    <a:pt x="24165" y="1591757"/>
                  </a:cubicBezTo>
                  <a:cubicBezTo>
                    <a:pt x="8692" y="1576284"/>
                    <a:pt x="0" y="1555299"/>
                    <a:pt x="0" y="1533418"/>
                  </a:cubicBezTo>
                  <a:lnTo>
                    <a:pt x="0" y="82503"/>
                  </a:lnTo>
                  <a:cubicBezTo>
                    <a:pt x="0" y="60622"/>
                    <a:pt x="8692" y="39637"/>
                    <a:pt x="24165" y="24165"/>
                  </a:cubicBezTo>
                  <a:cubicBezTo>
                    <a:pt x="39637" y="8692"/>
                    <a:pt x="60622" y="0"/>
                    <a:pt x="82503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38125"/>
              <a:ext cx="1196057" cy="1854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647700" indent="-323850" lvl="1">
                <a:lnSpc>
                  <a:spcPts val="612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Extending Device Lifetime by 52.5%</a:t>
              </a:r>
            </a:p>
            <a:p>
              <a:pPr algn="l" marL="647700" indent="-323850" lvl="1">
                <a:lnSpc>
                  <a:spcPts val="612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B</a:t>
              </a: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aseline battery: 24.0 hours</a:t>
              </a:r>
            </a:p>
            <a:p>
              <a:pPr algn="l" marL="647700" indent="-323850" lvl="1">
                <a:lnSpc>
                  <a:spcPts val="612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Wi</a:t>
              </a: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th V</a:t>
              </a: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oI: 36.6 hours</a:t>
              </a:r>
            </a:p>
            <a:p>
              <a:pPr algn="l" marL="647700" indent="-323850" lvl="1">
                <a:lnSpc>
                  <a:spcPts val="612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Gain: +12.6 hours (~52.5%)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585401" y="1811675"/>
            <a:ext cx="10836366" cy="6465698"/>
          </a:xfrm>
          <a:custGeom>
            <a:avLst/>
            <a:gdLst/>
            <a:ahLst/>
            <a:cxnLst/>
            <a:rect r="r" b="b" t="t" l="l"/>
            <a:pathLst>
              <a:path h="6465698" w="10836366">
                <a:moveTo>
                  <a:pt x="0" y="0"/>
                </a:moveTo>
                <a:lnTo>
                  <a:pt x="10836366" y="0"/>
                </a:lnTo>
                <a:lnTo>
                  <a:pt x="10836366" y="6465698"/>
                </a:lnTo>
                <a:lnTo>
                  <a:pt x="0" y="6465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383755" y="420745"/>
            <a:ext cx="969872" cy="560251"/>
          </a:xfrm>
          <a:custGeom>
            <a:avLst/>
            <a:gdLst/>
            <a:ahLst/>
            <a:cxnLst/>
            <a:rect r="r" b="b" t="t" l="l"/>
            <a:pathLst>
              <a:path h="560251" w="969872">
                <a:moveTo>
                  <a:pt x="0" y="0"/>
                </a:moveTo>
                <a:lnTo>
                  <a:pt x="969873" y="0"/>
                </a:lnTo>
                <a:lnTo>
                  <a:pt x="969873" y="560251"/>
                </a:lnTo>
                <a:lnTo>
                  <a:pt x="0" y="5602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78996" y="296840"/>
            <a:ext cx="9633584" cy="73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7"/>
              </a:lnSpc>
            </a:pPr>
            <a:r>
              <a:rPr lang="en-US" b="true" sz="430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Projected Battery Life Improvement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26778" y="8982223"/>
            <a:ext cx="761607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588" indent="-431794" lvl="1">
              <a:lnSpc>
                <a:spcPts val="5599"/>
              </a:lnSpc>
              <a:buAutoNum type="arabicPeriod" startAt="1"/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</a:t>
            </a: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extended</a:t>
            </a: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</a:t>
            </a: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</a:t>
            </a: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=</a:t>
            </a: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T</a:t>
            </a: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baseline</a:t>
            </a: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/ 1 − (R</a:t>
            </a: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filtered</a:t>
            </a: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· α)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71529" y="8982223"/>
            <a:ext cx="4687627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2. 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filtered 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=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filtered/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total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66392" y="362553"/>
            <a:ext cx="75223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18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5832" y="-144908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 flipV="true">
            <a:off x="1085850" y="7289441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090490" y="-104525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117904" y="0"/>
            <a:ext cx="1449213" cy="1673225"/>
            <a:chOff x="0" y="0"/>
            <a:chExt cx="70398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3982" cy="812800"/>
            </a:xfrm>
            <a:custGeom>
              <a:avLst/>
              <a:gdLst/>
              <a:ahLst/>
              <a:cxnLst/>
              <a:rect r="r" b="b" t="t" l="l"/>
              <a:pathLst>
                <a:path h="812800" w="703982">
                  <a:moveTo>
                    <a:pt x="234787" y="793731"/>
                  </a:moveTo>
                  <a:cubicBezTo>
                    <a:pt x="270879" y="805245"/>
                    <a:pt x="311910" y="812800"/>
                    <a:pt x="352180" y="812800"/>
                  </a:cubicBezTo>
                  <a:cubicBezTo>
                    <a:pt x="392452" y="812800"/>
                    <a:pt x="431204" y="806323"/>
                    <a:pt x="466915" y="794809"/>
                  </a:cubicBezTo>
                  <a:cubicBezTo>
                    <a:pt x="467675" y="794450"/>
                    <a:pt x="468435" y="794450"/>
                    <a:pt x="469194" y="794090"/>
                  </a:cubicBezTo>
                  <a:cubicBezTo>
                    <a:pt x="603304" y="748035"/>
                    <a:pt x="702082" y="626421"/>
                    <a:pt x="703982" y="484298"/>
                  </a:cubicBezTo>
                  <a:lnTo>
                    <a:pt x="703982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900" y="627140"/>
                    <a:pt x="99158" y="748755"/>
                    <a:pt x="234787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03982" cy="73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721225" y="878816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65382" y="1902290"/>
            <a:ext cx="4531087" cy="6336030"/>
            <a:chOff x="0" y="0"/>
            <a:chExt cx="1132419" cy="15835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2419" cy="1583514"/>
            </a:xfrm>
            <a:custGeom>
              <a:avLst/>
              <a:gdLst/>
              <a:ahLst/>
              <a:cxnLst/>
              <a:rect r="r" b="b" t="t" l="l"/>
              <a:pathLst>
                <a:path h="1583514" w="1132419">
                  <a:moveTo>
                    <a:pt x="87140" y="0"/>
                  </a:moveTo>
                  <a:lnTo>
                    <a:pt x="1045279" y="0"/>
                  </a:lnTo>
                  <a:cubicBezTo>
                    <a:pt x="1068390" y="0"/>
                    <a:pt x="1090555" y="9181"/>
                    <a:pt x="1106896" y="25523"/>
                  </a:cubicBezTo>
                  <a:cubicBezTo>
                    <a:pt x="1123238" y="41865"/>
                    <a:pt x="1132419" y="64029"/>
                    <a:pt x="1132419" y="87140"/>
                  </a:cubicBezTo>
                  <a:lnTo>
                    <a:pt x="1132419" y="1496375"/>
                  </a:lnTo>
                  <a:cubicBezTo>
                    <a:pt x="1132419" y="1544501"/>
                    <a:pt x="1093405" y="1583514"/>
                    <a:pt x="1045279" y="1583514"/>
                  </a:cubicBezTo>
                  <a:lnTo>
                    <a:pt x="87140" y="1583514"/>
                  </a:lnTo>
                  <a:cubicBezTo>
                    <a:pt x="64029" y="1583514"/>
                    <a:pt x="41865" y="1574334"/>
                    <a:pt x="25523" y="1557992"/>
                  </a:cubicBezTo>
                  <a:cubicBezTo>
                    <a:pt x="9181" y="1541650"/>
                    <a:pt x="0" y="1519486"/>
                    <a:pt x="0" y="1496375"/>
                  </a:cubicBezTo>
                  <a:lnTo>
                    <a:pt x="0" y="87140"/>
                  </a:lnTo>
                  <a:cubicBezTo>
                    <a:pt x="0" y="64029"/>
                    <a:pt x="9181" y="41865"/>
                    <a:pt x="25523" y="25523"/>
                  </a:cubicBezTo>
                  <a:cubicBezTo>
                    <a:pt x="41865" y="9181"/>
                    <a:pt x="64029" y="0"/>
                    <a:pt x="87140" y="0"/>
                  </a:cubicBezTo>
                  <a:close/>
                </a:path>
              </a:pathLst>
            </a:custGeom>
            <a:solidFill>
              <a:srgbClr val="E9C7C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71450"/>
              <a:ext cx="1132419" cy="1754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647700" indent="-323850" lvl="1">
                <a:lnSpc>
                  <a:spcPts val="546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Storage: 4618.5 mWh saved (heavily filtered)</a:t>
              </a:r>
            </a:p>
            <a:p>
              <a:pPr algn="l" marL="647700" indent="-323850" lvl="1">
                <a:lnSpc>
                  <a:spcPts val="546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M</a:t>
              </a: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emory: 3843.0 mWh saved</a:t>
              </a:r>
            </a:p>
            <a:p>
              <a:pPr algn="l" marL="647700" indent="-323850" lvl="1">
                <a:lnSpc>
                  <a:spcPts val="546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CPU: 0.0 mWh (never fil</a:t>
              </a: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tered →</a:t>
              </a: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 performance intact)</a:t>
              </a:r>
            </a:p>
            <a:p>
              <a:pPr algn="l" marL="647700" indent="-323850" lvl="1">
                <a:lnSpc>
                  <a:spcPts val="546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Savings mirror filtering priorities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06069" y="1937794"/>
            <a:ext cx="10978315" cy="6265021"/>
          </a:xfrm>
          <a:custGeom>
            <a:avLst/>
            <a:gdLst/>
            <a:ahLst/>
            <a:cxnLst/>
            <a:rect r="r" b="b" t="t" l="l"/>
            <a:pathLst>
              <a:path h="6265021" w="10978315">
                <a:moveTo>
                  <a:pt x="0" y="0"/>
                </a:moveTo>
                <a:lnTo>
                  <a:pt x="10978315" y="0"/>
                </a:lnTo>
                <a:lnTo>
                  <a:pt x="10978315" y="6265021"/>
                </a:lnTo>
                <a:lnTo>
                  <a:pt x="0" y="62650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2" t="0" r="-242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552427" y="296840"/>
            <a:ext cx="9686722" cy="73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7"/>
              </a:lnSpc>
            </a:pPr>
            <a:r>
              <a:rPr lang="en-US" sz="43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</a:t>
            </a:r>
            <a:r>
              <a:rPr lang="en-US" b="true" sz="430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 of Smart Filtering On battery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75832" y="9035710"/>
            <a:ext cx="16202694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588" indent="-431794" lvl="1">
              <a:lnSpc>
                <a:spcPts val="5599"/>
              </a:lnSpc>
              <a:spcBef>
                <a:spcPct val="0"/>
              </a:spcBef>
              <a:buAutoNum type="arabicPeriod" startAt="1"/>
            </a:pP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E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saved, type 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= N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filtered, type · 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E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transmission, type,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           2.B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saved 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= (E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saved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*100)/C</a:t>
            </a:r>
            <a:r>
              <a:rPr lang="en-US" sz="3999" strike="noStrike" u="none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battery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63475" y="362553"/>
            <a:ext cx="75807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19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5832" y="-144908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 flipV="true">
            <a:off x="1085850" y="7289441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090490" y="-104525"/>
            <a:ext cx="5403" cy="2997456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117904" y="0"/>
            <a:ext cx="1449213" cy="1673225"/>
            <a:chOff x="0" y="0"/>
            <a:chExt cx="70398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3982" cy="812800"/>
            </a:xfrm>
            <a:custGeom>
              <a:avLst/>
              <a:gdLst/>
              <a:ahLst/>
              <a:cxnLst/>
              <a:rect r="r" b="b" t="t" l="l"/>
              <a:pathLst>
                <a:path h="812800" w="703982">
                  <a:moveTo>
                    <a:pt x="234787" y="793731"/>
                  </a:moveTo>
                  <a:cubicBezTo>
                    <a:pt x="270879" y="805245"/>
                    <a:pt x="311910" y="812800"/>
                    <a:pt x="352180" y="812800"/>
                  </a:cubicBezTo>
                  <a:cubicBezTo>
                    <a:pt x="392452" y="812800"/>
                    <a:pt x="431204" y="806323"/>
                    <a:pt x="466915" y="794809"/>
                  </a:cubicBezTo>
                  <a:cubicBezTo>
                    <a:pt x="467675" y="794450"/>
                    <a:pt x="468435" y="794450"/>
                    <a:pt x="469194" y="794090"/>
                  </a:cubicBezTo>
                  <a:cubicBezTo>
                    <a:pt x="603304" y="748035"/>
                    <a:pt x="702082" y="626421"/>
                    <a:pt x="703982" y="484298"/>
                  </a:cubicBezTo>
                  <a:lnTo>
                    <a:pt x="703982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900" y="627140"/>
                    <a:pt x="99158" y="748755"/>
                    <a:pt x="234787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03982" cy="73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721225" y="878816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26336" y="1923191"/>
            <a:ext cx="12113847" cy="8055708"/>
          </a:xfrm>
          <a:custGeom>
            <a:avLst/>
            <a:gdLst/>
            <a:ahLst/>
            <a:cxnLst/>
            <a:rect r="r" b="b" t="t" l="l"/>
            <a:pathLst>
              <a:path h="8055708" w="12113847">
                <a:moveTo>
                  <a:pt x="0" y="0"/>
                </a:moveTo>
                <a:lnTo>
                  <a:pt x="12113847" y="0"/>
                </a:lnTo>
                <a:lnTo>
                  <a:pt x="12113847" y="8055709"/>
                </a:lnTo>
                <a:lnTo>
                  <a:pt x="0" y="80557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64841" y="239266"/>
            <a:ext cx="782257" cy="789434"/>
          </a:xfrm>
          <a:custGeom>
            <a:avLst/>
            <a:gdLst/>
            <a:ahLst/>
            <a:cxnLst/>
            <a:rect r="r" b="b" t="t" l="l"/>
            <a:pathLst>
              <a:path h="789434" w="782257">
                <a:moveTo>
                  <a:pt x="0" y="0"/>
                </a:moveTo>
                <a:lnTo>
                  <a:pt x="782257" y="0"/>
                </a:lnTo>
                <a:lnTo>
                  <a:pt x="782257" y="789434"/>
                </a:lnTo>
                <a:lnTo>
                  <a:pt x="0" y="7894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75110" y="296840"/>
            <a:ext cx="10841356" cy="73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7"/>
              </a:lnSpc>
            </a:pPr>
            <a:r>
              <a:rPr lang="en-US" b="true" sz="430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Consistent Real-Time Bandwidth Savings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21649" y="2485465"/>
            <a:ext cx="3868640" cy="1100675"/>
            <a:chOff x="0" y="0"/>
            <a:chExt cx="918878" cy="2614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8878" cy="261432"/>
            </a:xfrm>
            <a:custGeom>
              <a:avLst/>
              <a:gdLst/>
              <a:ahLst/>
              <a:cxnLst/>
              <a:rect r="r" b="b" t="t" l="l"/>
              <a:pathLst>
                <a:path h="261432" w="918878">
                  <a:moveTo>
                    <a:pt x="102061" y="0"/>
                  </a:moveTo>
                  <a:lnTo>
                    <a:pt x="816817" y="0"/>
                  </a:lnTo>
                  <a:cubicBezTo>
                    <a:pt x="843885" y="0"/>
                    <a:pt x="869845" y="10753"/>
                    <a:pt x="888985" y="29893"/>
                  </a:cubicBezTo>
                  <a:cubicBezTo>
                    <a:pt x="908125" y="49033"/>
                    <a:pt x="918878" y="74993"/>
                    <a:pt x="918878" y="102061"/>
                  </a:cubicBezTo>
                  <a:lnTo>
                    <a:pt x="918878" y="159371"/>
                  </a:lnTo>
                  <a:cubicBezTo>
                    <a:pt x="918878" y="186439"/>
                    <a:pt x="908125" y="212399"/>
                    <a:pt x="888985" y="231539"/>
                  </a:cubicBezTo>
                  <a:cubicBezTo>
                    <a:pt x="869845" y="250679"/>
                    <a:pt x="843885" y="261432"/>
                    <a:pt x="816817" y="261432"/>
                  </a:cubicBezTo>
                  <a:lnTo>
                    <a:pt x="102061" y="261432"/>
                  </a:lnTo>
                  <a:cubicBezTo>
                    <a:pt x="45694" y="261432"/>
                    <a:pt x="0" y="215738"/>
                    <a:pt x="0" y="159371"/>
                  </a:cubicBezTo>
                  <a:lnTo>
                    <a:pt x="0" y="102061"/>
                  </a:lnTo>
                  <a:cubicBezTo>
                    <a:pt x="0" y="74993"/>
                    <a:pt x="10753" y="49033"/>
                    <a:pt x="29893" y="29893"/>
                  </a:cubicBezTo>
                  <a:cubicBezTo>
                    <a:pt x="49033" y="10753"/>
                    <a:pt x="74993" y="0"/>
                    <a:pt x="102061" y="0"/>
                  </a:cubicBezTo>
                  <a:close/>
                </a:path>
              </a:pathLst>
            </a:custGeom>
            <a:solidFill>
              <a:srgbClr val="E9C7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18878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St</a:t>
              </a: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art</a:t>
              </a:r>
              <a:r>
                <a:rPr lang="en-US" sz="3000" strike="noStrike" u="none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up Spike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21649" y="4189542"/>
            <a:ext cx="3868640" cy="1097415"/>
            <a:chOff x="0" y="0"/>
            <a:chExt cx="918878" cy="2606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8878" cy="260658"/>
            </a:xfrm>
            <a:custGeom>
              <a:avLst/>
              <a:gdLst/>
              <a:ahLst/>
              <a:cxnLst/>
              <a:rect r="r" b="b" t="t" l="l"/>
              <a:pathLst>
                <a:path h="260658" w="918878">
                  <a:moveTo>
                    <a:pt x="102061" y="0"/>
                  </a:moveTo>
                  <a:lnTo>
                    <a:pt x="816817" y="0"/>
                  </a:lnTo>
                  <a:cubicBezTo>
                    <a:pt x="843885" y="0"/>
                    <a:pt x="869845" y="10753"/>
                    <a:pt x="888985" y="29893"/>
                  </a:cubicBezTo>
                  <a:cubicBezTo>
                    <a:pt x="908125" y="49033"/>
                    <a:pt x="918878" y="74993"/>
                    <a:pt x="918878" y="102061"/>
                  </a:cubicBezTo>
                  <a:lnTo>
                    <a:pt x="918878" y="158596"/>
                  </a:lnTo>
                  <a:cubicBezTo>
                    <a:pt x="918878" y="214963"/>
                    <a:pt x="873184" y="260658"/>
                    <a:pt x="816817" y="260658"/>
                  </a:cubicBezTo>
                  <a:lnTo>
                    <a:pt x="102061" y="260658"/>
                  </a:lnTo>
                  <a:cubicBezTo>
                    <a:pt x="74993" y="260658"/>
                    <a:pt x="49033" y="249905"/>
                    <a:pt x="29893" y="230765"/>
                  </a:cubicBezTo>
                  <a:cubicBezTo>
                    <a:pt x="10753" y="211624"/>
                    <a:pt x="0" y="185665"/>
                    <a:pt x="0" y="158596"/>
                  </a:cubicBezTo>
                  <a:lnTo>
                    <a:pt x="0" y="102061"/>
                  </a:lnTo>
                  <a:cubicBezTo>
                    <a:pt x="0" y="74993"/>
                    <a:pt x="10753" y="49033"/>
                    <a:pt x="29893" y="29893"/>
                  </a:cubicBezTo>
                  <a:cubicBezTo>
                    <a:pt x="49033" y="10753"/>
                    <a:pt x="74993" y="0"/>
                    <a:pt x="102061" y="0"/>
                  </a:cubicBezTo>
                  <a:close/>
                </a:path>
              </a:pathLst>
            </a:custGeom>
            <a:solidFill>
              <a:srgbClr val="E9C7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18878" cy="317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F</a:t>
              </a: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iltering Impact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21649" y="5890359"/>
            <a:ext cx="3868640" cy="1059485"/>
            <a:chOff x="0" y="0"/>
            <a:chExt cx="918878" cy="2516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8878" cy="251648"/>
            </a:xfrm>
            <a:custGeom>
              <a:avLst/>
              <a:gdLst/>
              <a:ahLst/>
              <a:cxnLst/>
              <a:rect r="r" b="b" t="t" l="l"/>
              <a:pathLst>
                <a:path h="251648" w="918878">
                  <a:moveTo>
                    <a:pt x="102061" y="0"/>
                  </a:moveTo>
                  <a:lnTo>
                    <a:pt x="816817" y="0"/>
                  </a:lnTo>
                  <a:cubicBezTo>
                    <a:pt x="843885" y="0"/>
                    <a:pt x="869845" y="10753"/>
                    <a:pt x="888985" y="29893"/>
                  </a:cubicBezTo>
                  <a:cubicBezTo>
                    <a:pt x="908125" y="49033"/>
                    <a:pt x="918878" y="74993"/>
                    <a:pt x="918878" y="102061"/>
                  </a:cubicBezTo>
                  <a:lnTo>
                    <a:pt x="918878" y="149587"/>
                  </a:lnTo>
                  <a:cubicBezTo>
                    <a:pt x="918878" y="176656"/>
                    <a:pt x="908125" y="202615"/>
                    <a:pt x="888985" y="221755"/>
                  </a:cubicBezTo>
                  <a:cubicBezTo>
                    <a:pt x="869845" y="240896"/>
                    <a:pt x="843885" y="251648"/>
                    <a:pt x="816817" y="251648"/>
                  </a:cubicBezTo>
                  <a:lnTo>
                    <a:pt x="102061" y="251648"/>
                  </a:lnTo>
                  <a:cubicBezTo>
                    <a:pt x="45694" y="251648"/>
                    <a:pt x="0" y="205954"/>
                    <a:pt x="0" y="149587"/>
                  </a:cubicBezTo>
                  <a:lnTo>
                    <a:pt x="0" y="102061"/>
                  </a:lnTo>
                  <a:cubicBezTo>
                    <a:pt x="0" y="74993"/>
                    <a:pt x="10753" y="49033"/>
                    <a:pt x="29893" y="29893"/>
                  </a:cubicBezTo>
                  <a:cubicBezTo>
                    <a:pt x="49033" y="10753"/>
                    <a:pt x="74993" y="0"/>
                    <a:pt x="102061" y="0"/>
                  </a:cubicBezTo>
                  <a:close/>
                </a:path>
              </a:pathLst>
            </a:custGeom>
            <a:solidFill>
              <a:srgbClr val="E9C7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918878" cy="308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S</a:t>
              </a: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table Savings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75832" y="7549919"/>
            <a:ext cx="3868640" cy="1091466"/>
            <a:chOff x="0" y="0"/>
            <a:chExt cx="918878" cy="2592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8878" cy="259245"/>
            </a:xfrm>
            <a:custGeom>
              <a:avLst/>
              <a:gdLst/>
              <a:ahLst/>
              <a:cxnLst/>
              <a:rect r="r" b="b" t="t" l="l"/>
              <a:pathLst>
                <a:path h="259245" w="918878">
                  <a:moveTo>
                    <a:pt x="102061" y="0"/>
                  </a:moveTo>
                  <a:lnTo>
                    <a:pt x="816817" y="0"/>
                  </a:lnTo>
                  <a:cubicBezTo>
                    <a:pt x="843885" y="0"/>
                    <a:pt x="869845" y="10753"/>
                    <a:pt x="888985" y="29893"/>
                  </a:cubicBezTo>
                  <a:cubicBezTo>
                    <a:pt x="908125" y="49033"/>
                    <a:pt x="918878" y="74993"/>
                    <a:pt x="918878" y="102061"/>
                  </a:cubicBezTo>
                  <a:lnTo>
                    <a:pt x="918878" y="157183"/>
                  </a:lnTo>
                  <a:cubicBezTo>
                    <a:pt x="918878" y="213550"/>
                    <a:pt x="873184" y="259245"/>
                    <a:pt x="816817" y="259245"/>
                  </a:cubicBezTo>
                  <a:lnTo>
                    <a:pt x="102061" y="259245"/>
                  </a:lnTo>
                  <a:cubicBezTo>
                    <a:pt x="74993" y="259245"/>
                    <a:pt x="49033" y="248492"/>
                    <a:pt x="29893" y="229352"/>
                  </a:cubicBezTo>
                  <a:cubicBezTo>
                    <a:pt x="10753" y="210211"/>
                    <a:pt x="0" y="184252"/>
                    <a:pt x="0" y="157183"/>
                  </a:cubicBezTo>
                  <a:lnTo>
                    <a:pt x="0" y="102061"/>
                  </a:lnTo>
                  <a:cubicBezTo>
                    <a:pt x="0" y="74993"/>
                    <a:pt x="10753" y="49033"/>
                    <a:pt x="29893" y="29893"/>
                  </a:cubicBezTo>
                  <a:cubicBezTo>
                    <a:pt x="49033" y="10753"/>
                    <a:pt x="74993" y="0"/>
                    <a:pt x="102061" y="0"/>
                  </a:cubicBezTo>
                  <a:close/>
                </a:path>
              </a:pathLst>
            </a:custGeom>
            <a:solidFill>
              <a:srgbClr val="E9C7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918878" cy="316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Scalable Effici</a:t>
              </a: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ency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428173" y="362553"/>
            <a:ext cx="82867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144877" y="9182100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854391" y="58900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118406" y="-52275"/>
            <a:ext cx="1449213" cy="1673225"/>
            <a:chOff x="0" y="0"/>
            <a:chExt cx="70398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3982" cy="812800"/>
            </a:xfrm>
            <a:custGeom>
              <a:avLst/>
              <a:gdLst/>
              <a:ahLst/>
              <a:cxnLst/>
              <a:rect r="r" b="b" t="t" l="l"/>
              <a:pathLst>
                <a:path h="812800" w="703982">
                  <a:moveTo>
                    <a:pt x="234787" y="793731"/>
                  </a:moveTo>
                  <a:cubicBezTo>
                    <a:pt x="270879" y="805245"/>
                    <a:pt x="311910" y="812800"/>
                    <a:pt x="352180" y="812800"/>
                  </a:cubicBezTo>
                  <a:cubicBezTo>
                    <a:pt x="392452" y="812800"/>
                    <a:pt x="431204" y="806323"/>
                    <a:pt x="466915" y="794809"/>
                  </a:cubicBezTo>
                  <a:cubicBezTo>
                    <a:pt x="467675" y="794450"/>
                    <a:pt x="468435" y="794450"/>
                    <a:pt x="469194" y="794090"/>
                  </a:cubicBezTo>
                  <a:cubicBezTo>
                    <a:pt x="603304" y="748035"/>
                    <a:pt x="702082" y="626421"/>
                    <a:pt x="703982" y="484298"/>
                  </a:cubicBezTo>
                  <a:lnTo>
                    <a:pt x="703982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900" y="627140"/>
                    <a:pt x="99158" y="748755"/>
                    <a:pt x="234787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03982" cy="73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706192" y="415603"/>
            <a:ext cx="10929913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CONCLUSION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3009325" y="-40227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59441" y="2344850"/>
            <a:ext cx="15683572" cy="1100675"/>
            <a:chOff x="0" y="0"/>
            <a:chExt cx="3725156" cy="26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25156" cy="261432"/>
            </a:xfrm>
            <a:custGeom>
              <a:avLst/>
              <a:gdLst/>
              <a:ahLst/>
              <a:cxnLst/>
              <a:rect r="r" b="b" t="t" l="l"/>
              <a:pathLst>
                <a:path h="261432" w="3725156">
                  <a:moveTo>
                    <a:pt x="25175" y="0"/>
                  </a:moveTo>
                  <a:lnTo>
                    <a:pt x="3699980" y="0"/>
                  </a:lnTo>
                  <a:cubicBezTo>
                    <a:pt x="3713884" y="0"/>
                    <a:pt x="3725156" y="11271"/>
                    <a:pt x="3725156" y="25175"/>
                  </a:cubicBezTo>
                  <a:lnTo>
                    <a:pt x="3725156" y="236257"/>
                  </a:lnTo>
                  <a:cubicBezTo>
                    <a:pt x="3725156" y="250160"/>
                    <a:pt x="3713884" y="261432"/>
                    <a:pt x="3699980" y="261432"/>
                  </a:cubicBezTo>
                  <a:lnTo>
                    <a:pt x="25175" y="261432"/>
                  </a:lnTo>
                  <a:cubicBezTo>
                    <a:pt x="11271" y="261432"/>
                    <a:pt x="0" y="250160"/>
                    <a:pt x="0" y="236257"/>
                  </a:cubicBezTo>
                  <a:lnTo>
                    <a:pt x="0" y="25175"/>
                  </a:lnTo>
                  <a:cubicBezTo>
                    <a:pt x="0" y="11271"/>
                    <a:pt x="11271" y="0"/>
                    <a:pt x="25175" y="0"/>
                  </a:cubicBezTo>
                  <a:close/>
                </a:path>
              </a:pathLst>
            </a:custGeom>
            <a:solidFill>
              <a:srgbClr val="E9C7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725156" cy="318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Bandwidth</a:t>
              </a:r>
              <a:r>
                <a:rPr lang="en-US" sz="3000" strike="noStrike" u="none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 Efficiency : Cut transmissions by ~60%, saving 50–75% per round.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59441" y="4026823"/>
            <a:ext cx="15683572" cy="1097415"/>
            <a:chOff x="0" y="0"/>
            <a:chExt cx="3725156" cy="2606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25156" cy="260658"/>
            </a:xfrm>
            <a:custGeom>
              <a:avLst/>
              <a:gdLst/>
              <a:ahLst/>
              <a:cxnLst/>
              <a:rect r="r" b="b" t="t" l="l"/>
              <a:pathLst>
                <a:path h="260658" w="3725156">
                  <a:moveTo>
                    <a:pt x="25175" y="0"/>
                  </a:moveTo>
                  <a:lnTo>
                    <a:pt x="3699980" y="0"/>
                  </a:lnTo>
                  <a:cubicBezTo>
                    <a:pt x="3713884" y="0"/>
                    <a:pt x="3725156" y="11271"/>
                    <a:pt x="3725156" y="25175"/>
                  </a:cubicBezTo>
                  <a:lnTo>
                    <a:pt x="3725156" y="235482"/>
                  </a:lnTo>
                  <a:cubicBezTo>
                    <a:pt x="3725156" y="249386"/>
                    <a:pt x="3713884" y="260658"/>
                    <a:pt x="3699980" y="260658"/>
                  </a:cubicBezTo>
                  <a:lnTo>
                    <a:pt x="25175" y="260658"/>
                  </a:lnTo>
                  <a:cubicBezTo>
                    <a:pt x="11271" y="260658"/>
                    <a:pt x="0" y="249386"/>
                    <a:pt x="0" y="235482"/>
                  </a:cubicBezTo>
                  <a:lnTo>
                    <a:pt x="0" y="25175"/>
                  </a:lnTo>
                  <a:cubicBezTo>
                    <a:pt x="0" y="11271"/>
                    <a:pt x="11271" y="0"/>
                    <a:pt x="25175" y="0"/>
                  </a:cubicBezTo>
                  <a:close/>
                </a:path>
              </a:pathLst>
            </a:custGeom>
            <a:solidFill>
              <a:srgbClr val="E9C7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725156" cy="317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Device</a:t>
              </a: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 Lifetime: Extended battery life by 52% (24h → 36.6h)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59441" y="5845655"/>
            <a:ext cx="15683572" cy="1110411"/>
            <a:chOff x="0" y="0"/>
            <a:chExt cx="3725156" cy="2637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25156" cy="263744"/>
            </a:xfrm>
            <a:custGeom>
              <a:avLst/>
              <a:gdLst/>
              <a:ahLst/>
              <a:cxnLst/>
              <a:rect r="r" b="b" t="t" l="l"/>
              <a:pathLst>
                <a:path h="263744" w="3725156">
                  <a:moveTo>
                    <a:pt x="25175" y="0"/>
                  </a:moveTo>
                  <a:lnTo>
                    <a:pt x="3699980" y="0"/>
                  </a:lnTo>
                  <a:cubicBezTo>
                    <a:pt x="3713884" y="0"/>
                    <a:pt x="3725156" y="11271"/>
                    <a:pt x="3725156" y="25175"/>
                  </a:cubicBezTo>
                  <a:lnTo>
                    <a:pt x="3725156" y="238569"/>
                  </a:lnTo>
                  <a:cubicBezTo>
                    <a:pt x="3725156" y="252473"/>
                    <a:pt x="3713884" y="263744"/>
                    <a:pt x="3699980" y="263744"/>
                  </a:cubicBezTo>
                  <a:lnTo>
                    <a:pt x="25175" y="263744"/>
                  </a:lnTo>
                  <a:cubicBezTo>
                    <a:pt x="11271" y="263744"/>
                    <a:pt x="0" y="252473"/>
                    <a:pt x="0" y="238569"/>
                  </a:cubicBezTo>
                  <a:lnTo>
                    <a:pt x="0" y="25175"/>
                  </a:lnTo>
                  <a:cubicBezTo>
                    <a:pt x="0" y="11271"/>
                    <a:pt x="11271" y="0"/>
                    <a:pt x="25175" y="0"/>
                  </a:cubicBezTo>
                  <a:close/>
                </a:path>
              </a:pathLst>
            </a:custGeom>
            <a:solidFill>
              <a:srgbClr val="E9C7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725156" cy="320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S</a:t>
              </a: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mart Filtering: Kept all critical CPU data, suppressed 82% low-priority updates.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59441" y="7546836"/>
            <a:ext cx="15683572" cy="1091466"/>
            <a:chOff x="0" y="0"/>
            <a:chExt cx="3725156" cy="2592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25156" cy="259245"/>
            </a:xfrm>
            <a:custGeom>
              <a:avLst/>
              <a:gdLst/>
              <a:ahLst/>
              <a:cxnLst/>
              <a:rect r="r" b="b" t="t" l="l"/>
              <a:pathLst>
                <a:path h="259245" w="3725156">
                  <a:moveTo>
                    <a:pt x="25175" y="0"/>
                  </a:moveTo>
                  <a:lnTo>
                    <a:pt x="3699980" y="0"/>
                  </a:lnTo>
                  <a:cubicBezTo>
                    <a:pt x="3713884" y="0"/>
                    <a:pt x="3725156" y="11271"/>
                    <a:pt x="3725156" y="25175"/>
                  </a:cubicBezTo>
                  <a:lnTo>
                    <a:pt x="3725156" y="234069"/>
                  </a:lnTo>
                  <a:cubicBezTo>
                    <a:pt x="3725156" y="247973"/>
                    <a:pt x="3713884" y="259245"/>
                    <a:pt x="3699980" y="259245"/>
                  </a:cubicBezTo>
                  <a:lnTo>
                    <a:pt x="25175" y="259245"/>
                  </a:lnTo>
                  <a:cubicBezTo>
                    <a:pt x="11271" y="259245"/>
                    <a:pt x="0" y="247973"/>
                    <a:pt x="0" y="234069"/>
                  </a:cubicBezTo>
                  <a:lnTo>
                    <a:pt x="0" y="25175"/>
                  </a:lnTo>
                  <a:cubicBezTo>
                    <a:pt x="0" y="11271"/>
                    <a:pt x="11271" y="0"/>
                    <a:pt x="25175" y="0"/>
                  </a:cubicBezTo>
                  <a:close/>
                </a:path>
              </a:pathLst>
            </a:custGeom>
            <a:solidFill>
              <a:srgbClr val="E9C7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725156" cy="316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Scalable &amp; Resilient: Consist</a:t>
              </a:r>
              <a:r>
                <a:rPr lang="en-US" sz="3000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ent gains across rounds and larger networks.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5973" y="2376338"/>
            <a:ext cx="1069187" cy="1069187"/>
            <a:chOff x="0" y="0"/>
            <a:chExt cx="1425583" cy="1425583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425583" cy="1425583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93B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94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189864"/>
              <a:ext cx="1425583" cy="1009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35"/>
                </a:lnSpc>
              </a:pPr>
              <a:r>
                <a:rPr lang="en-US" sz="4869" spc="-973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5973" y="4055050"/>
            <a:ext cx="1069187" cy="1069187"/>
            <a:chOff x="0" y="0"/>
            <a:chExt cx="1425583" cy="1425583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425583" cy="1425583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93B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94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89864"/>
              <a:ext cx="1425583" cy="1009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35"/>
                </a:lnSpc>
              </a:pPr>
              <a:r>
                <a:rPr lang="en-US" sz="4869" spc="-973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5973" y="5735602"/>
            <a:ext cx="1069187" cy="1069187"/>
            <a:chOff x="0" y="0"/>
            <a:chExt cx="1425583" cy="1425583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425583" cy="1425583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93B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94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0" y="189864"/>
              <a:ext cx="1425583" cy="1009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35"/>
                </a:lnSpc>
              </a:pPr>
              <a:r>
                <a:rPr lang="en-US" sz="4869" spc="-973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5973" y="7397244"/>
            <a:ext cx="1069187" cy="1069187"/>
            <a:chOff x="0" y="0"/>
            <a:chExt cx="1425583" cy="1425583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425583" cy="1425583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93B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94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0" y="189864"/>
              <a:ext cx="1425583" cy="1009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35"/>
                </a:lnSpc>
              </a:pPr>
              <a:r>
                <a:rPr lang="en-US" sz="4869" spc="-973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4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4713416" y="699249"/>
            <a:ext cx="1228815" cy="1045610"/>
          </a:xfrm>
          <a:custGeom>
            <a:avLst/>
            <a:gdLst/>
            <a:ahLst/>
            <a:cxnLst/>
            <a:rect r="r" b="b" t="t" l="l"/>
            <a:pathLst>
              <a:path h="1045610" w="1228815">
                <a:moveTo>
                  <a:pt x="0" y="0"/>
                </a:moveTo>
                <a:lnTo>
                  <a:pt x="1228815" y="0"/>
                </a:lnTo>
                <a:lnTo>
                  <a:pt x="1228815" y="1045610"/>
                </a:lnTo>
                <a:lnTo>
                  <a:pt x="0" y="1045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6484608" y="362553"/>
            <a:ext cx="71580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21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17854" y="904810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17904" y="-108271"/>
            <a:ext cx="1449213" cy="1673225"/>
            <a:chOff x="0" y="0"/>
            <a:chExt cx="703982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3982" cy="812800"/>
            </a:xfrm>
            <a:custGeom>
              <a:avLst/>
              <a:gdLst/>
              <a:ahLst/>
              <a:cxnLst/>
              <a:rect r="r" b="b" t="t" l="l"/>
              <a:pathLst>
                <a:path h="812800" w="703982">
                  <a:moveTo>
                    <a:pt x="234787" y="793731"/>
                  </a:moveTo>
                  <a:cubicBezTo>
                    <a:pt x="270879" y="805245"/>
                    <a:pt x="311910" y="812800"/>
                    <a:pt x="352180" y="812800"/>
                  </a:cubicBezTo>
                  <a:cubicBezTo>
                    <a:pt x="392452" y="812800"/>
                    <a:pt x="431204" y="806323"/>
                    <a:pt x="466915" y="794809"/>
                  </a:cubicBezTo>
                  <a:cubicBezTo>
                    <a:pt x="467675" y="794450"/>
                    <a:pt x="468435" y="794450"/>
                    <a:pt x="469194" y="794090"/>
                  </a:cubicBezTo>
                  <a:cubicBezTo>
                    <a:pt x="603304" y="748035"/>
                    <a:pt x="702082" y="626421"/>
                    <a:pt x="703982" y="484298"/>
                  </a:cubicBezTo>
                  <a:lnTo>
                    <a:pt x="703982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900" y="627140"/>
                    <a:pt x="99158" y="748755"/>
                    <a:pt x="234787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703982" cy="73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706192" y="113978"/>
            <a:ext cx="10929913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FUTURE SCOPE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009325" y="-703904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2322433"/>
            <a:ext cx="16393067" cy="1039583"/>
            <a:chOff x="0" y="0"/>
            <a:chExt cx="4096991" cy="2598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96991" cy="259815"/>
            </a:xfrm>
            <a:custGeom>
              <a:avLst/>
              <a:gdLst/>
              <a:ahLst/>
              <a:cxnLst/>
              <a:rect r="r" b="b" t="t" l="l"/>
              <a:pathLst>
                <a:path h="259815" w="4096991">
                  <a:moveTo>
                    <a:pt x="24086" y="0"/>
                  </a:moveTo>
                  <a:lnTo>
                    <a:pt x="4072905" y="0"/>
                  </a:lnTo>
                  <a:cubicBezTo>
                    <a:pt x="4079293" y="0"/>
                    <a:pt x="4085420" y="2538"/>
                    <a:pt x="4089936" y="7055"/>
                  </a:cubicBezTo>
                  <a:cubicBezTo>
                    <a:pt x="4094454" y="11571"/>
                    <a:pt x="4096991" y="17698"/>
                    <a:pt x="4096991" y="24086"/>
                  </a:cubicBezTo>
                  <a:lnTo>
                    <a:pt x="4096991" y="235729"/>
                  </a:lnTo>
                  <a:cubicBezTo>
                    <a:pt x="4096991" y="249031"/>
                    <a:pt x="4086208" y="259815"/>
                    <a:pt x="4072905" y="259815"/>
                  </a:cubicBezTo>
                  <a:lnTo>
                    <a:pt x="24086" y="259815"/>
                  </a:lnTo>
                  <a:cubicBezTo>
                    <a:pt x="17698" y="259815"/>
                    <a:pt x="11571" y="257277"/>
                    <a:pt x="7055" y="252760"/>
                  </a:cubicBezTo>
                  <a:cubicBezTo>
                    <a:pt x="2538" y="248244"/>
                    <a:pt x="0" y="242117"/>
                    <a:pt x="0" y="235729"/>
                  </a:cubicBezTo>
                  <a:lnTo>
                    <a:pt x="0" y="24086"/>
                  </a:lnTo>
                  <a:cubicBezTo>
                    <a:pt x="0" y="10784"/>
                    <a:pt x="10784" y="0"/>
                    <a:pt x="24086" y="0"/>
                  </a:cubicBezTo>
                  <a:close/>
                </a:path>
              </a:pathLst>
            </a:custGeom>
            <a:solidFill>
              <a:srgbClr val="E9C7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4096991" cy="326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               </a:t>
              </a:r>
              <a:r>
                <a:rPr lang="en-US" sz="3199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Stro</a:t>
              </a:r>
              <a:r>
                <a:rPr lang="en-US" sz="3199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nger Security: Zero-trust design with lightweight encryption.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4434801"/>
            <a:ext cx="16393067" cy="1039583"/>
            <a:chOff x="0" y="0"/>
            <a:chExt cx="4096991" cy="2598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96991" cy="259815"/>
            </a:xfrm>
            <a:custGeom>
              <a:avLst/>
              <a:gdLst/>
              <a:ahLst/>
              <a:cxnLst/>
              <a:rect r="r" b="b" t="t" l="l"/>
              <a:pathLst>
                <a:path h="259815" w="4096991">
                  <a:moveTo>
                    <a:pt x="24086" y="0"/>
                  </a:moveTo>
                  <a:lnTo>
                    <a:pt x="4072905" y="0"/>
                  </a:lnTo>
                  <a:cubicBezTo>
                    <a:pt x="4079293" y="0"/>
                    <a:pt x="4085420" y="2538"/>
                    <a:pt x="4089936" y="7055"/>
                  </a:cubicBezTo>
                  <a:cubicBezTo>
                    <a:pt x="4094454" y="11571"/>
                    <a:pt x="4096991" y="17698"/>
                    <a:pt x="4096991" y="24086"/>
                  </a:cubicBezTo>
                  <a:lnTo>
                    <a:pt x="4096991" y="235729"/>
                  </a:lnTo>
                  <a:cubicBezTo>
                    <a:pt x="4096991" y="249031"/>
                    <a:pt x="4086208" y="259815"/>
                    <a:pt x="4072905" y="259815"/>
                  </a:cubicBezTo>
                  <a:lnTo>
                    <a:pt x="24086" y="259815"/>
                  </a:lnTo>
                  <a:cubicBezTo>
                    <a:pt x="17698" y="259815"/>
                    <a:pt x="11571" y="257277"/>
                    <a:pt x="7055" y="252760"/>
                  </a:cubicBezTo>
                  <a:cubicBezTo>
                    <a:pt x="2538" y="248244"/>
                    <a:pt x="0" y="242117"/>
                    <a:pt x="0" y="235729"/>
                  </a:cubicBezTo>
                  <a:lnTo>
                    <a:pt x="0" y="24086"/>
                  </a:lnTo>
                  <a:cubicBezTo>
                    <a:pt x="0" y="10784"/>
                    <a:pt x="10784" y="0"/>
                    <a:pt x="24086" y="0"/>
                  </a:cubicBezTo>
                  <a:close/>
                </a:path>
              </a:pathLst>
            </a:custGeom>
            <a:solidFill>
              <a:srgbClr val="E9C7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4096991" cy="326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Real-World Test</a:t>
              </a:r>
              <a:r>
                <a:rPr lang="en-US" sz="3199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ing: Deploy on large-scale testbeds (Raspberry Pi / edge-cloud).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21129" y="6428453"/>
            <a:ext cx="9319332" cy="3371904"/>
          </a:xfrm>
          <a:custGeom>
            <a:avLst/>
            <a:gdLst/>
            <a:ahLst/>
            <a:cxnLst/>
            <a:rect r="r" b="b" t="t" l="l"/>
            <a:pathLst>
              <a:path h="3371904" w="9319332">
                <a:moveTo>
                  <a:pt x="0" y="0"/>
                </a:moveTo>
                <a:lnTo>
                  <a:pt x="9319332" y="0"/>
                </a:lnTo>
                <a:lnTo>
                  <a:pt x="9319332" y="3371904"/>
                </a:lnTo>
                <a:lnTo>
                  <a:pt x="0" y="3371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6493559"/>
            <a:ext cx="16538417" cy="1039583"/>
            <a:chOff x="0" y="0"/>
            <a:chExt cx="4133317" cy="2598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33317" cy="259815"/>
            </a:xfrm>
            <a:custGeom>
              <a:avLst/>
              <a:gdLst/>
              <a:ahLst/>
              <a:cxnLst/>
              <a:rect r="r" b="b" t="t" l="l"/>
              <a:pathLst>
                <a:path h="259815" w="4133317">
                  <a:moveTo>
                    <a:pt x="23874" y="0"/>
                  </a:moveTo>
                  <a:lnTo>
                    <a:pt x="4109443" y="0"/>
                  </a:lnTo>
                  <a:cubicBezTo>
                    <a:pt x="4122628" y="0"/>
                    <a:pt x="4133317" y="10689"/>
                    <a:pt x="4133317" y="23874"/>
                  </a:cubicBezTo>
                  <a:lnTo>
                    <a:pt x="4133317" y="235941"/>
                  </a:lnTo>
                  <a:cubicBezTo>
                    <a:pt x="4133317" y="249126"/>
                    <a:pt x="4122628" y="259815"/>
                    <a:pt x="4109443" y="259815"/>
                  </a:cubicBezTo>
                  <a:lnTo>
                    <a:pt x="23874" y="259815"/>
                  </a:lnTo>
                  <a:cubicBezTo>
                    <a:pt x="10689" y="259815"/>
                    <a:pt x="0" y="249126"/>
                    <a:pt x="0" y="235941"/>
                  </a:cubicBezTo>
                  <a:lnTo>
                    <a:pt x="0" y="23874"/>
                  </a:lnTo>
                  <a:cubicBezTo>
                    <a:pt x="0" y="10689"/>
                    <a:pt x="10689" y="0"/>
                    <a:pt x="23874" y="0"/>
                  </a:cubicBezTo>
                  <a:close/>
                </a:path>
              </a:pathLst>
            </a:custGeom>
            <a:solidFill>
              <a:srgbClr val="E9C7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4133317" cy="326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     </a:t>
              </a:r>
              <a:r>
                <a:rPr lang="en-US" sz="3199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Ad</a:t>
              </a:r>
              <a:r>
                <a:rPr lang="en-US" sz="3199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aptive Filtering: ML-based dynamic VoI rules for smarter real-time optimization.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2398896"/>
            <a:ext cx="1016128" cy="1016128"/>
            <a:chOff x="0" y="0"/>
            <a:chExt cx="1354838" cy="135483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354838" cy="1354838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93B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93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179024"/>
              <a:ext cx="1354838" cy="960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31"/>
                </a:lnSpc>
              </a:pPr>
              <a:r>
                <a:rPr lang="en-US" sz="4627" spc="-92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6432004"/>
            <a:ext cx="1016128" cy="1016128"/>
            <a:chOff x="0" y="0"/>
            <a:chExt cx="1354838" cy="1354838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354838" cy="1354838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93B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93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79024"/>
              <a:ext cx="1354838" cy="960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31"/>
                </a:lnSpc>
              </a:pPr>
              <a:r>
                <a:rPr lang="en-US" sz="4627" spc="-92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8700" y="4434801"/>
            <a:ext cx="1016128" cy="1016128"/>
            <a:chOff x="0" y="0"/>
            <a:chExt cx="1354838" cy="1354838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354838" cy="135483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93B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393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0" y="179024"/>
              <a:ext cx="1354838" cy="960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31"/>
                </a:lnSpc>
              </a:pPr>
              <a:r>
                <a:rPr lang="en-US" sz="4627" spc="-92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2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4151233" y="208925"/>
            <a:ext cx="1380005" cy="1564954"/>
          </a:xfrm>
          <a:custGeom>
            <a:avLst/>
            <a:gdLst/>
            <a:ahLst/>
            <a:cxnLst/>
            <a:rect r="r" b="b" t="t" l="l"/>
            <a:pathLst>
              <a:path h="1564954" w="1380005">
                <a:moveTo>
                  <a:pt x="0" y="0"/>
                </a:moveTo>
                <a:lnTo>
                  <a:pt x="1380005" y="0"/>
                </a:lnTo>
                <a:lnTo>
                  <a:pt x="1380005" y="1564954"/>
                </a:lnTo>
                <a:lnTo>
                  <a:pt x="0" y="15649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6474607" y="362553"/>
            <a:ext cx="73580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22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60599" y="8759642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430169" y="8759642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117904" y="0"/>
            <a:ext cx="1449213" cy="1673225"/>
            <a:chOff x="0" y="0"/>
            <a:chExt cx="70398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3982" cy="812800"/>
            </a:xfrm>
            <a:custGeom>
              <a:avLst/>
              <a:gdLst/>
              <a:ahLst/>
              <a:cxnLst/>
              <a:rect r="r" b="b" t="t" l="l"/>
              <a:pathLst>
                <a:path h="812800" w="703982">
                  <a:moveTo>
                    <a:pt x="234787" y="793731"/>
                  </a:moveTo>
                  <a:cubicBezTo>
                    <a:pt x="270879" y="805245"/>
                    <a:pt x="311910" y="812800"/>
                    <a:pt x="352180" y="812800"/>
                  </a:cubicBezTo>
                  <a:cubicBezTo>
                    <a:pt x="392452" y="812800"/>
                    <a:pt x="431204" y="806323"/>
                    <a:pt x="466915" y="794809"/>
                  </a:cubicBezTo>
                  <a:cubicBezTo>
                    <a:pt x="467675" y="794450"/>
                    <a:pt x="468435" y="794450"/>
                    <a:pt x="469194" y="794090"/>
                  </a:cubicBezTo>
                  <a:cubicBezTo>
                    <a:pt x="603304" y="748035"/>
                    <a:pt x="702082" y="626421"/>
                    <a:pt x="703982" y="484298"/>
                  </a:cubicBezTo>
                  <a:lnTo>
                    <a:pt x="703982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900" y="627140"/>
                    <a:pt x="99158" y="748755"/>
                    <a:pt x="234787" y="793731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703982" cy="73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706192" y="113978"/>
            <a:ext cx="10929913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REFERENCE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3009325" y="-703904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6059" y="1716729"/>
            <a:ext cx="17195708" cy="700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  <a:hlinkClick r:id="rId4" tooltip="https://ieeexplore.ieee.org/document/10185925"/>
              </a:rPr>
              <a:t>[1]S. Ilager, S. Nastic, and S. Dustdar, “DEMon: Decentralized Monitoring for Highly Volatile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  <a:hlinkClick r:id="rId5" tooltip="https://ieeexplore.ieee.org/document/10185925"/>
              </a:rPr>
              <a:t>Edge Environments,” in 2022 IEEE/ACM 15th International Conference on Utility and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  <a:hlinkClick r:id="rId6" tooltip="https://ieeexplore.ieee.org/document/10185925"/>
              </a:rPr>
              <a:t>Cloud Computing (UCC). IEEE, 2022, pp. 145–155.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  <a:hlinkClick r:id="rId7" tooltip="https://ieeexplore.ieee.org/document/10185925"/>
              </a:rPr>
              <a:t>[2]M. Satyanarayanan, “The emergence of edge computing,” Computer, vol. 50, no. 1, pp.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  <a:hlinkClick r:id="rId8" tooltip="https://ieeexplore.ieee.org/document/10185925"/>
              </a:rPr>
              <a:t>30–39, 2017.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  <a:hlinkClick r:id="rId9" tooltip="https://ieeexplore.ieee.org/document/10640092"/>
              </a:rPr>
              <a:t>[3]A. Demers, D. Greene, C. Hauser, W. Irish, J. Larson, S. Shenker, H. Sturgis, D. Swinehart,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  <a:hlinkClick r:id="rId10" tooltip="https://ieeexplore.ieee.org/document/10640092"/>
              </a:rPr>
              <a:t>and D. Terry, “Epidemic algorithms for replicated database maintenance,” ACM SIGOPS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  <a:hlinkClick r:id="rId11" tooltip="https://ieeexplore.ieee.org/document/10640092"/>
              </a:rPr>
              <a:t>Operating Systems Review, vol. 22, no. 1, pp. 8–32, 1987.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  <a:hlinkClick r:id="rId12" tooltip="https://ieeexplore.ieee.org/document/10185925"/>
              </a:rPr>
              <a:t>[4] X. Liu and X</a:t>
            </a:r>
            <a:r>
              <a:rPr lang="en-US" sz="2499" u="sng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  <a:hlinkClick r:id="rId13" tooltip="https://ieeexplore.ieee.org/document/10251413"/>
              </a:rPr>
              <a:t>Jingyi Wu; Tianheng Xu; Ting Zhou; Xianfu Chen; Honglin Hu; Celimuge Wu "Adaptive NOMA-Based Spectrum Sensing for Uplink IoT Networks " Volume: 10, Issue: 1, February 2024</a:t>
            </a:r>
            <a:r>
              <a:rPr lang="en-US" sz="2499" u="sng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  <a:hlinkClick r:id="rId14" tooltip="https://ieeexplore.ieee.org/document/10185925"/>
              </a:rPr>
              <a:t> Zhang,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463475" y="362553"/>
            <a:ext cx="75807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5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23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73851" y="752475"/>
            <a:ext cx="11627497" cy="251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78235" y="3840505"/>
            <a:ext cx="10418729" cy="436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3"/>
              </a:lnSpc>
            </a:pPr>
            <a:r>
              <a:rPr lang="en-US" sz="4116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Parthkumar Mugra , Ankesh Gupta</a:t>
            </a:r>
            <a:r>
              <a:rPr lang="en-US" sz="4116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, Lokesh Mehar, Mahendra K. Shukla, and O. J. Pandey, Context aware gossip-based</a:t>
            </a:r>
          </a:p>
          <a:p>
            <a:pPr algn="ctr">
              <a:lnSpc>
                <a:spcPts val="5763"/>
              </a:lnSpc>
            </a:pPr>
            <a:r>
              <a:rPr lang="en-US" sz="4116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decentralised monitoring</a:t>
            </a:r>
          </a:p>
          <a:p>
            <a:pPr algn="ctr">
              <a:lnSpc>
                <a:spcPts val="5763"/>
              </a:lnSpc>
            </a:pPr>
            <a:r>
              <a:rPr lang="en-US" sz="4116">
                <a:solidFill>
                  <a:srgbClr val="050505"/>
                </a:solidFill>
                <a:latin typeface="Alatsi"/>
                <a:ea typeface="Alatsi"/>
                <a:cs typeface="Alatsi"/>
                <a:sym typeface="Alatsi"/>
              </a:rPr>
              <a:t>system,  IEEE Wireless Communications Letters, September 2025, under revision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DAGxRHFCqfc</dc:identifier>
  <dcterms:modified xsi:type="dcterms:W3CDTF">2011-08-01T06:04:30Z</dcterms:modified>
  <cp:revision>1</cp:revision>
  <dc:title>BTP</dc:title>
</cp:coreProperties>
</file>